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8" r:id="rId3"/>
    <p:sldId id="256" r:id="rId4"/>
    <p:sldId id="270" r:id="rId6"/>
    <p:sldId id="271" r:id="rId7"/>
    <p:sldId id="289" r:id="rId8"/>
    <p:sldId id="290" r:id="rId9"/>
    <p:sldId id="259" r:id="rId10"/>
    <p:sldId id="285" r:id="rId11"/>
    <p:sldId id="291" r:id="rId12"/>
    <p:sldId id="288" r:id="rId13"/>
    <p:sldId id="260" r:id="rId14"/>
    <p:sldId id="292" r:id="rId15"/>
    <p:sldId id="293" r:id="rId16"/>
    <p:sldId id="262" r:id="rId17"/>
    <p:sldId id="294" r:id="rId18"/>
    <p:sldId id="264" r:id="rId19"/>
    <p:sldId id="274" r:id="rId20"/>
    <p:sldId id="275" r:id="rId21"/>
    <p:sldId id="276" r:id="rId22"/>
    <p:sldId id="265" r:id="rId23"/>
    <p:sldId id="283" r:id="rId24"/>
    <p:sldId id="278" r:id="rId25"/>
    <p:sldId id="266" r:id="rId26"/>
    <p:sldId id="295" r:id="rId27"/>
    <p:sldId id="267" r:id="rId2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D1FF"/>
    <a:srgbClr val="002060"/>
    <a:srgbClr val="FFD1D1"/>
    <a:srgbClr val="F9CFB4"/>
    <a:srgbClr val="B9CEF8"/>
    <a:srgbClr val="BEDAAA"/>
    <a:srgbClr val="D5BEEA"/>
    <a:srgbClr val="8FAADC"/>
    <a:srgbClr val="2563EB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4860" y="91440"/>
            <a:ext cx="5033645" cy="51435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0" y="0"/>
            <a:ext cx="9143365" cy="5143500"/>
            <a:chOff x="0" y="0"/>
            <a:chExt cx="14399" cy="81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658" cy="8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741" y="0"/>
              <a:ext cx="658" cy="8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 rot="16200000">
              <a:off x="6886" y="-6227"/>
              <a:ext cx="658" cy="13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rot="16200000">
              <a:off x="6855" y="1214"/>
              <a:ext cx="658" cy="13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2555" y="-11430"/>
            <a:ext cx="9284970" cy="515493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B0DAFD">
              <a:alpha val="91000"/>
            </a:srgbClr>
          </a:solidFill>
          <a:ln w="12700">
            <a:solidFill>
              <a:srgbClr val="1625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2284730" cy="292735"/>
          </a:xfrm>
          <a:prstGeom prst="roundRect">
            <a:avLst>
              <a:gd name="adj" fmla="val 18750"/>
            </a:avLst>
          </a:prstGeom>
          <a:solidFill>
            <a:srgbClr val="1456DC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2760" y="411480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CS619 - Software Projects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7315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Student Performance</a:t>
            </a:r>
            <a:endParaRPr lang="en-US" sz="36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7315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Predictor &amp; Dashboard</a:t>
            </a:r>
            <a:endParaRPr lang="en-US" sz="3600" b="1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Phase 4 - Recommendations Engine &amp; Final Deliverable</a:t>
            </a:r>
            <a:endParaRPr lang="en-US" sz="1400" dirty="0">
              <a:solidFill>
                <a:srgbClr val="CBD5E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5720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Virtual University of Pakistan</a:t>
            </a:r>
            <a:endParaRPr lang="en-US" sz="1400" dirty="0">
              <a:solidFill>
                <a:srgbClr val="94A3B8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Department of Computer Sciences  |  Fall 2025</a:t>
            </a:r>
            <a:endParaRPr lang="en-US" sz="1400" dirty="0">
              <a:solidFill>
                <a:srgbClr val="94A3B8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Presented By: </a:t>
            </a:r>
            <a:r>
              <a:rPr lang="en-US" altLang="en-US" sz="1300" b="1" dirty="0">
                <a:solidFill>
                  <a:srgbClr val="FCD34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Syeda Farkhanda Batool Naqvi &amp; Saad Shakir</a:t>
            </a:r>
            <a:r>
              <a:rPr lang="en-US" sz="1300" b="1" dirty="0">
                <a:solidFill>
                  <a:srgbClr val="FCD34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  |  </a:t>
            </a:r>
            <a:r>
              <a:rPr lang="en-US" altLang="en-US" sz="1300" b="1" dirty="0">
                <a:solidFill>
                  <a:srgbClr val="FCD34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BC220424824, BC220404989</a:t>
            </a:r>
            <a:endParaRPr lang="en-US" altLang="en-US" sz="1300" b="1" dirty="0">
              <a:solidFill>
                <a:srgbClr val="FCD34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14800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ML</a:t>
            </a:r>
            <a:endParaRPr lang="en-US" sz="1400" b="1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45920" y="41148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4114800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Flask</a:t>
            </a:r>
            <a:endParaRPr lang="en-US" sz="1400" b="1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834640" y="41148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4114800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Plotly</a:t>
            </a:r>
            <a:endParaRPr lang="en-US" sz="1400" b="1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23360" y="41148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114800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Pandas</a:t>
            </a:r>
            <a:endParaRPr lang="en-US" sz="1400" b="1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308860" y="4783455"/>
            <a:ext cx="3845560" cy="2927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2000 Students  . Logistic Regression  .  4 Phases</a:t>
            </a:r>
            <a:endParaRPr lang="en-US" sz="1400" b="1" dirty="0">
              <a:solidFill>
                <a:schemeClr val="bg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6753860" y="2743200"/>
            <a:ext cx="552450" cy="552450"/>
          </a:xfrm>
          <a:prstGeom prst="ellipse">
            <a:avLst/>
          </a:prstGeom>
          <a:solidFill>
            <a:srgbClr val="B0DAFD">
              <a:alpha val="91000"/>
            </a:srgbClr>
          </a:solidFill>
          <a:ln w="12700">
            <a:solidFill>
              <a:srgbClr val="162554"/>
            </a:solidFill>
            <a:prstDash val="solid"/>
          </a:ln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6397625" y="2379345"/>
            <a:ext cx="356235" cy="356235"/>
          </a:xfrm>
          <a:prstGeom prst="ellipse">
            <a:avLst/>
          </a:prstGeom>
          <a:solidFill>
            <a:srgbClr val="B0DAFD">
              <a:alpha val="91000"/>
            </a:srgbClr>
          </a:solidFill>
          <a:ln w="12700">
            <a:solidFill>
              <a:srgbClr val="162554"/>
            </a:solidFill>
            <a:prstDash val="solid"/>
          </a:ln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6" name="Picture 6" descr="C:\Users\usman.waheed\Desktop\vu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1810" y="125095"/>
            <a:ext cx="906780" cy="6591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" name="Shape 16"/>
          <p:cNvSpPr/>
          <p:nvPr/>
        </p:nvSpPr>
        <p:spPr>
          <a:xfrm>
            <a:off x="5215255" y="4117975"/>
            <a:ext cx="1324610" cy="292735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  <a:sym typeface="+mn-ea"/>
              </a:rPr>
              <a:t>Scikit-learn</a:t>
            </a:r>
            <a:endParaRPr lang="en-US" sz="1400" b="1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hape 0"/>
          <p:cNvSpPr/>
          <p:nvPr/>
        </p:nvSpPr>
        <p:spPr>
          <a:xfrm>
            <a:off x="-122555" y="-11430"/>
            <a:ext cx="9284970" cy="515493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  <p:txBody>
          <a:bodyPr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  <a:sym typeface="+mn-ea"/>
              </a:rPr>
              <a:t>             Group Members Introduction</a:t>
            </a:r>
            <a:endParaRPr lang="en-US" sz="36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en-US" sz="36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54305" y="591185"/>
            <a:ext cx="9324975" cy="4173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-45720" y="469265"/>
            <a:ext cx="9297035" cy="40805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We are final-year students driven by a shared vision to bridge the gap between academic data and actionable    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intelligence.</a:t>
            </a:r>
            <a:br>
              <a:rPr lang="en-US" altLang="en-US" sz="1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			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en-US" sz="1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Our Objective:</a:t>
            </a:r>
            <a:endParaRPr lang="en-US" altLang="en-US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Our Final Year Project integrates predictive modeling with intelligent visualization to transform raw educational data into meaningful insights.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The system uncovers hidden performance patterns, supports data-driven academic decisions, and contributes to improving outcomes at scale.</a:t>
            </a:r>
            <a:endParaRPr lang="en-US" sz="16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We believe education should rely on evidence, analytics, and foresight - not assumptions.</a:t>
            </a:r>
            <a:endParaRPr 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altLang="en-US" sz="16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02640" y="1396365"/>
            <a:ext cx="3298825" cy="1312545"/>
            <a:chOff x="1264" y="2469"/>
            <a:chExt cx="5195" cy="2067"/>
          </a:xfrm>
        </p:grpSpPr>
        <p:sp>
          <p:nvSpPr>
            <p:cNvPr id="5" name="Rectangle 4"/>
            <p:cNvSpPr/>
            <p:nvPr/>
          </p:nvSpPr>
          <p:spPr>
            <a:xfrm>
              <a:off x="1264" y="2469"/>
              <a:ext cx="5195" cy="2067"/>
            </a:xfrm>
            <a:prstGeom prst="rect">
              <a:avLst/>
            </a:prstGeom>
            <a:solidFill>
              <a:srgbClr val="8FD1FF"/>
            </a:solidFill>
            <a:ln w="92075" cmpd="dbl">
              <a:noFill/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           Syeda Farkhanda Batool Naqvi </a:t>
              </a:r>
              <a:b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</a:br>
              <a: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         </a:t>
              </a:r>
              <a: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[BC220424824]</a:t>
              </a:r>
              <a:b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</a:br>
              <a: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      BS Computer Science </a:t>
              </a:r>
              <a:b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</a:br>
              <a: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   (BSCS)</a:t>
              </a:r>
              <a:endParaRPr lang="en-US" altLang="en-US" sz="1400" b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469" y="2987"/>
              <a:ext cx="1056" cy="1071"/>
            </a:xfrm>
            <a:prstGeom prst="ellipse">
              <a:avLst/>
            </a:prstGeom>
            <a:solidFill>
              <a:srgbClr val="00206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b="1">
                  <a:latin typeface="Times New Roman" panose="02020603050405020304" charset="0"/>
                  <a:cs typeface="Times New Roman" panose="02020603050405020304" charset="0"/>
                </a:rPr>
                <a:t>SF</a:t>
              </a:r>
              <a:endParaRPr lang="en-US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810760" y="1396365"/>
            <a:ext cx="3300730" cy="1312545"/>
            <a:chOff x="7576" y="2469"/>
            <a:chExt cx="5198" cy="2067"/>
          </a:xfrm>
        </p:grpSpPr>
        <p:sp>
          <p:nvSpPr>
            <p:cNvPr id="2" name="Rectangle 1"/>
            <p:cNvSpPr/>
            <p:nvPr/>
          </p:nvSpPr>
          <p:spPr>
            <a:xfrm>
              <a:off x="7576" y="2469"/>
              <a:ext cx="5198" cy="2067"/>
            </a:xfrm>
            <a:prstGeom prst="rect">
              <a:avLst/>
            </a:prstGeom>
            <a:solidFill>
              <a:srgbClr val="8FD1FF"/>
            </a:solidFill>
            <a:ln w="92075" cmpd="dbl">
              <a:noFill/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            Saad Shakir  </a:t>
              </a:r>
              <a:b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</a:br>
              <a: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            [BC220404989]</a:t>
              </a:r>
              <a:b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</a:br>
              <a: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         BS Information Technology</a:t>
              </a:r>
              <a:endParaRPr lang="en-US" altLang="en-US" sz="1400" b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algn="ctr"/>
              <a: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         </a:t>
              </a:r>
              <a: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(BSIT)</a:t>
              </a:r>
              <a:r>
                <a:rPr lang="en-US" altLang="en-US" sz="14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       </a:t>
              </a:r>
              <a:r>
                <a:rPr lang="en-US" altLang="en-US" sz="1600" b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</a:t>
              </a:r>
              <a:endParaRPr lang="en-US" altLang="en-US" sz="1600" b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7737" y="2987"/>
              <a:ext cx="1056" cy="1071"/>
            </a:xfrm>
            <a:prstGeom prst="ellipse">
              <a:avLst/>
            </a:prstGeom>
            <a:solidFill>
              <a:srgbClr val="00206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b="1">
                  <a:latin typeface="Times New Roman" panose="02020603050405020304" charset="0"/>
                  <a:cs typeface="Times New Roman" panose="02020603050405020304" charset="0"/>
                </a:rPr>
                <a:t>SS</a:t>
              </a:r>
              <a:endParaRPr lang="en-US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-154305" y="4765040"/>
            <a:ext cx="9324975" cy="3784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02640" y="1396365"/>
            <a:ext cx="3298825" cy="1312545"/>
          </a:xfrm>
          <a:prstGeom prst="rect">
            <a:avLst/>
          </a:prstGeom>
          <a:noFill/>
          <a:ln w="76200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71390" y="1396365"/>
            <a:ext cx="3298825" cy="1312545"/>
          </a:xfrm>
          <a:prstGeom prst="rect">
            <a:avLst/>
          </a:prstGeom>
          <a:noFill/>
          <a:ln w="76200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2555" y="-11430"/>
            <a:ext cx="9284970" cy="515493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-131445" y="4572000"/>
            <a:ext cx="9275445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0970" y="549275"/>
            <a:ext cx="9317736" cy="414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14725" y="-90805"/>
            <a:ext cx="20904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Abstract</a:t>
            </a:r>
            <a:endParaRPr lang="en-US" sz="36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" name="Text 7"/>
          <p:cNvSpPr/>
          <p:nvPr/>
        </p:nvSpPr>
        <p:spPr>
          <a:xfrm>
            <a:off x="26035" y="732155"/>
            <a:ext cx="9084945" cy="7931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Student Performance Predictor &amp; Dashboard - A machine learning-driven decision support system designed to predict student outcomes and enable early academic intervention.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601227" y="1780701"/>
            <a:ext cx="7723623" cy="2655452"/>
            <a:chOff x="2145" y="2188"/>
            <a:chExt cx="10058" cy="3458"/>
          </a:xfrm>
        </p:grpSpPr>
        <p:grpSp>
          <p:nvGrpSpPr>
            <p:cNvPr id="42" name="Group 41"/>
            <p:cNvGrpSpPr/>
            <p:nvPr/>
          </p:nvGrpSpPr>
          <p:grpSpPr>
            <a:xfrm>
              <a:off x="2145" y="2188"/>
              <a:ext cx="10000" cy="3458"/>
              <a:chOff x="2145" y="2188"/>
              <a:chExt cx="10000" cy="3458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2244" y="2188"/>
                <a:ext cx="9901" cy="3458"/>
                <a:chOff x="504" y="1303"/>
                <a:chExt cx="9901" cy="3458"/>
              </a:xfrm>
            </p:grpSpPr>
            <p:sp>
              <p:nvSpPr>
                <p:cNvPr id="24" name="Shape 7"/>
                <p:cNvSpPr/>
                <p:nvPr/>
              </p:nvSpPr>
              <p:spPr>
                <a:xfrm>
                  <a:off x="504" y="1512"/>
                  <a:ext cx="3024" cy="3249"/>
                </a:xfrm>
                <a:prstGeom prst="roundRect">
                  <a:avLst>
                    <a:gd name="adj" fmla="val 4762"/>
                  </a:avLst>
                </a:prstGeom>
                <a:solidFill>
                  <a:srgbClr val="F3F4F6"/>
                </a:solidFill>
                <a:ln w="6350">
                  <a:solidFill>
                    <a:srgbClr val="E2E8F0"/>
                  </a:solidFill>
                  <a:prstDash val="solid"/>
                </a:ln>
                <a:effectLst>
                  <a:outerShdw blurRad="50800" dist="12700" dir="8100000" algn="bl" rotWithShape="0">
                    <a:srgbClr val="000000">
                      <a:alpha val="7000"/>
                    </a:srgbClr>
                  </a:outerShdw>
                </a:effectLst>
              </p:spPr>
            </p:sp>
            <p:sp>
              <p:nvSpPr>
                <p:cNvPr id="27" name="Shape 8"/>
                <p:cNvSpPr/>
                <p:nvPr/>
              </p:nvSpPr>
              <p:spPr>
                <a:xfrm>
                  <a:off x="504" y="1303"/>
                  <a:ext cx="3024" cy="648"/>
                </a:xfrm>
                <a:prstGeom prst="roundRect">
                  <a:avLst>
                    <a:gd name="adj" fmla="val 17778"/>
                  </a:avLst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</p:sp>
            <p:sp>
              <p:nvSpPr>
                <p:cNvPr id="28" name="Shape 15"/>
                <p:cNvSpPr/>
                <p:nvPr/>
              </p:nvSpPr>
              <p:spPr>
                <a:xfrm>
                  <a:off x="3859" y="1512"/>
                  <a:ext cx="3024" cy="3249"/>
                </a:xfrm>
                <a:prstGeom prst="roundRect">
                  <a:avLst>
                    <a:gd name="adj" fmla="val 4762"/>
                  </a:avLst>
                </a:prstGeom>
                <a:solidFill>
                  <a:srgbClr val="F3F4F6"/>
                </a:solidFill>
                <a:ln w="6350">
                  <a:solidFill>
                    <a:srgbClr val="E2E8F0"/>
                  </a:solidFill>
                  <a:prstDash val="solid"/>
                </a:ln>
                <a:effectLst>
                  <a:outerShdw blurRad="50800" dist="12700" dir="8100000" algn="bl" rotWithShape="0">
                    <a:srgbClr val="000000">
                      <a:alpha val="7000"/>
                    </a:srgbClr>
                  </a:outerShdw>
                </a:effectLst>
              </p:spPr>
            </p:sp>
            <p:sp>
              <p:nvSpPr>
                <p:cNvPr id="29" name="Shape 16"/>
                <p:cNvSpPr/>
                <p:nvPr/>
              </p:nvSpPr>
              <p:spPr>
                <a:xfrm>
                  <a:off x="3859" y="1303"/>
                  <a:ext cx="3024" cy="648"/>
                </a:xfrm>
                <a:prstGeom prst="roundRect">
                  <a:avLst>
                    <a:gd name="adj" fmla="val 17778"/>
                  </a:avLst>
                </a:prstGeom>
                <a:solidFill>
                  <a:srgbClr val="166534"/>
                </a:solidFill>
                <a:ln w="12700">
                  <a:solidFill>
                    <a:srgbClr val="166534"/>
                  </a:solidFill>
                  <a:prstDash val="solid"/>
                </a:ln>
              </p:spPr>
            </p:sp>
            <p:sp>
              <p:nvSpPr>
                <p:cNvPr id="30" name="Shape 23"/>
                <p:cNvSpPr/>
                <p:nvPr/>
              </p:nvSpPr>
              <p:spPr>
                <a:xfrm>
                  <a:off x="7214" y="1512"/>
                  <a:ext cx="3191" cy="3249"/>
                </a:xfrm>
                <a:prstGeom prst="roundRect">
                  <a:avLst>
                    <a:gd name="adj" fmla="val 4762"/>
                  </a:avLst>
                </a:prstGeom>
                <a:solidFill>
                  <a:srgbClr val="F3F4F6"/>
                </a:solidFill>
                <a:ln w="6350">
                  <a:solidFill>
                    <a:srgbClr val="E2E8F0"/>
                  </a:solidFill>
                  <a:prstDash val="solid"/>
                </a:ln>
                <a:effectLst>
                  <a:outerShdw blurRad="50800" dist="12700" dir="8100000" algn="bl" rotWithShape="0">
                    <a:srgbClr val="000000">
                      <a:alpha val="7000"/>
                    </a:srgbClr>
                  </a:outerShdw>
                </a:effectLst>
              </p:spPr>
            </p:sp>
            <p:sp>
              <p:nvSpPr>
                <p:cNvPr id="31" name="Shape 24"/>
                <p:cNvSpPr/>
                <p:nvPr/>
              </p:nvSpPr>
              <p:spPr>
                <a:xfrm>
                  <a:off x="7214" y="1314"/>
                  <a:ext cx="3178" cy="648"/>
                </a:xfrm>
                <a:prstGeom prst="roundRect">
                  <a:avLst>
                    <a:gd name="adj" fmla="val 17778"/>
                  </a:avLst>
                </a:prstGeom>
                <a:solidFill>
                  <a:srgbClr val="0F766E"/>
                </a:solidFill>
                <a:ln w="12700">
                  <a:solidFill>
                    <a:srgbClr val="0F766E"/>
                  </a:solidFill>
                  <a:prstDash val="solid"/>
                </a:ln>
              </p:spPr>
            </p:sp>
          </p:grpSp>
          <p:sp>
            <p:nvSpPr>
              <p:cNvPr id="34" name="Text 9"/>
              <p:cNvSpPr/>
              <p:nvPr/>
            </p:nvSpPr>
            <p:spPr>
              <a:xfrm>
                <a:off x="2145" y="2199"/>
                <a:ext cx="3024" cy="648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🧠</a:t>
                </a:r>
                <a:r>
                  <a:rPr lang="en-US" altLang="en-US" sz="14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    Model Outcome</a:t>
                </a:r>
                <a:endParaRPr lang="en-US" altLang="en-US" sz="1400" b="1" dirty="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7" name="Text 9"/>
              <p:cNvSpPr/>
              <p:nvPr/>
            </p:nvSpPr>
            <p:spPr>
              <a:xfrm>
                <a:off x="5562" y="2214"/>
                <a:ext cx="3024" cy="648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🚨</a:t>
                </a:r>
                <a:r>
                  <a:rPr lang="en-US" altLang="en-US" sz="14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   Core Innovation</a:t>
                </a:r>
                <a:endParaRPr lang="en-US" altLang="en-US" sz="1400" b="1" dirty="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8" name="Text 9"/>
              <p:cNvSpPr/>
              <p:nvPr/>
            </p:nvSpPr>
            <p:spPr>
              <a:xfrm>
                <a:off x="8811" y="2239"/>
                <a:ext cx="3024" cy="648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🎯</a:t>
                </a:r>
                <a:r>
                  <a:rPr lang="en-US" altLang="en-US" sz="14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   Impact</a:t>
                </a:r>
                <a:endParaRPr lang="en-US" altLang="en-US" sz="1400" b="1" dirty="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39" name="Text 10"/>
            <p:cNvSpPr/>
            <p:nvPr/>
          </p:nvSpPr>
          <p:spPr>
            <a:xfrm>
              <a:off x="2208" y="2701"/>
              <a:ext cx="3322" cy="2800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b="1" dirty="0">
                  <a:latin typeface="Times New Roman" panose="02020603050405020304" charset="0"/>
                  <a:cs typeface="Times New Roman" panose="02020603050405020304" charset="0"/>
                </a:rPr>
                <a:t>Logistic Regression</a:t>
              </a:r>
              <a:r>
                <a:rPr lang="en-US" altLang="en-US" sz="1200" dirty="0">
                  <a:latin typeface="Times New Roman" panose="02020603050405020304" charset="0"/>
                  <a:cs typeface="Times New Roman" panose="02020603050405020304" charset="0"/>
                </a:rPr>
                <a:t> model selected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b="1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Accuracy: </a:t>
              </a:r>
              <a:r>
                <a:rPr lang="en-US" altLang="en-US" sz="1200" b="1" dirty="0">
                  <a:latin typeface="Times New Roman" panose="02020603050405020304" charset="0"/>
                  <a:cs typeface="Times New Roman" panose="02020603050405020304" charset="0"/>
                </a:rPr>
                <a:t>96.50 % 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b="1" dirty="0">
                  <a:latin typeface="Times New Roman" panose="02020603050405020304" charset="0"/>
                  <a:cs typeface="Times New Roman" panose="02020603050405020304" charset="0"/>
                </a:rPr>
                <a:t>F1 Score:</a:t>
              </a:r>
              <a:r>
                <a:rPr lang="en-US" altLang="en-US" sz="1200" dirty="0">
                  <a:latin typeface="Times New Roman" panose="02020603050405020304" charset="0"/>
                  <a:cs typeface="Times New Roman" panose="02020603050405020304" charset="0"/>
                </a:rPr>
                <a:t> 0.9647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b="1" dirty="0">
                  <a:latin typeface="Times New Roman" panose="02020603050405020304" charset="0"/>
                  <a:cs typeface="Times New Roman" panose="02020603050405020304" charset="0"/>
                </a:rPr>
                <a:t>Predicts</a:t>
              </a:r>
              <a:r>
                <a:rPr lang="en-US" altLang="en-US" sz="1200" dirty="0">
                  <a:latin typeface="Times New Roman" panose="02020603050405020304" charset="0"/>
                  <a:cs typeface="Times New Roman" panose="02020603050405020304" charset="0"/>
                </a:rPr>
                <a:t> Pass / Fail outcomes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0" name="Text 10"/>
            <p:cNvSpPr/>
            <p:nvPr/>
          </p:nvSpPr>
          <p:spPr>
            <a:xfrm>
              <a:off x="5508" y="2701"/>
              <a:ext cx="3322" cy="2800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latin typeface="Times New Roman" panose="02020603050405020304" charset="0"/>
                  <a:cs typeface="Times New Roman" panose="02020603050405020304" charset="0"/>
                </a:rPr>
                <a:t>Intelligent Recommendation Engine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latin typeface="Times New Roman" panose="02020603050405020304" charset="0"/>
                  <a:cs typeface="Times New Roman" panose="02020603050405020304" charset="0"/>
                </a:rPr>
                <a:t>Risk detection using </a:t>
              </a:r>
              <a:r>
                <a:rPr lang="en-US" altLang="en-US" sz="1200" b="1" dirty="0">
                  <a:latin typeface="Times New Roman" panose="02020603050405020304" charset="0"/>
                  <a:cs typeface="Times New Roman" panose="02020603050405020304" charset="0"/>
                </a:rPr>
                <a:t>predict_proba()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b="1" dirty="0">
                  <a:latin typeface="Times New Roman" panose="02020603050405020304" charset="0"/>
                  <a:cs typeface="Times New Roman" panose="02020603050405020304" charset="0"/>
                </a:rPr>
                <a:t>4-level risk</a:t>
              </a:r>
              <a:r>
                <a:rPr lang="en-US" altLang="en-US" sz="1200" dirty="0">
                  <a:latin typeface="Times New Roman" panose="02020603050405020304" charset="0"/>
                  <a:cs typeface="Times New Roman" panose="02020603050405020304" charset="0"/>
                </a:rPr>
                <a:t> classification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b="1" dirty="0">
                  <a:latin typeface="Times New Roman" panose="02020603050405020304" charset="0"/>
                  <a:cs typeface="Times New Roman" panose="02020603050405020304" charset="0"/>
                </a:rPr>
                <a:t>10 </a:t>
              </a:r>
              <a:r>
                <a:rPr lang="en-US" altLang="en-US" sz="1200" dirty="0">
                  <a:latin typeface="Times New Roman" panose="02020603050405020304" charset="0"/>
                  <a:cs typeface="Times New Roman" panose="02020603050405020304" charset="0"/>
                </a:rPr>
                <a:t>academic dimensions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1" name="Text 10"/>
            <p:cNvSpPr/>
            <p:nvPr/>
          </p:nvSpPr>
          <p:spPr>
            <a:xfrm>
              <a:off x="8881" y="2699"/>
              <a:ext cx="3322" cy="2800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latin typeface="Times New Roman" panose="02020603050405020304" charset="0"/>
                  <a:cs typeface="Times New Roman" panose="02020603050405020304" charset="0"/>
                </a:rPr>
                <a:t>Identifies at-risk students early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latin typeface="Times New Roman" panose="02020603050405020304" charset="0"/>
                  <a:cs typeface="Times New Roman" panose="02020603050405020304" charset="0"/>
                </a:rPr>
                <a:t>Provides personalized improvement plans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latin typeface="Times New Roman" panose="02020603050405020304" charset="0"/>
                  <a:cs typeface="Times New Roman" panose="02020603050405020304" charset="0"/>
                </a:rPr>
                <a:t>Supports data-driven academic decisions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latin typeface="Times New Roman" panose="02020603050405020304" charset="0"/>
                  <a:cs typeface="Times New Roman" panose="02020603050405020304" charset="0"/>
                </a:rPr>
                <a:t>Early alert notifications</a:t>
              </a:r>
              <a:endParaRPr lang="en-US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44" name="Text 7"/>
          <p:cNvSpPr/>
          <p:nvPr/>
        </p:nvSpPr>
        <p:spPr>
          <a:xfrm>
            <a:off x="466725" y="4504690"/>
            <a:ext cx="7593965" cy="7931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b="1" dirty="0">
                <a:solidFill>
                  <a:schemeClr val="accent4"/>
                </a:solidFill>
                <a:latin typeface="Times New Roman" panose="02020603050405020304" charset="0"/>
                <a:cs typeface="Times New Roman" panose="02020603050405020304" charset="0"/>
              </a:rPr>
              <a:t>         From prediction to intervention - transforming academic data into actionable intelligence.</a:t>
            </a:r>
            <a:endParaRPr lang="en-US" altLang="en-US" sz="1400" b="1" dirty="0">
              <a:solidFill>
                <a:schemeClr val="accent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  <p:txBody>
          <a:bodyPr/>
          <a:p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64535" y="-31750"/>
            <a:ext cx="245300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Project Overview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32760" y="4712208"/>
            <a:ext cx="6858000" cy="530352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CS619 · Phase 4 · Student Performance Predictor</a:t>
            </a:r>
            <a:endParaRPr lang="en-US" sz="1400" dirty="0">
              <a:solidFill>
                <a:srgbClr val="94A3B8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88515" y="246380"/>
            <a:ext cx="478155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End-to-end ML pipeline from raw data to intelligent dashboard</a:t>
            </a:r>
            <a:endParaRPr lang="en-US" sz="1400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6840" y="704215"/>
            <a:ext cx="389826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ALL 4 PHASES AT A GLANCE</a:t>
            </a:r>
            <a:endParaRPr 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15265" y="4648200"/>
            <a:ext cx="8770620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00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Domain:</a:t>
            </a:r>
            <a:r>
              <a:rPr lang="en-US" sz="1400" b="1" dirty="0">
                <a:solidFill>
                  <a:srgbClr val="94A3B8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 Educational Data Mining (EDM)  .  Tools: Python, Flask, Scikit-learn, Plotly, Pandas, Joblib, MySQl 8.0</a:t>
            </a:r>
            <a:endParaRPr lang="en-US" sz="1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3" name="Table 42"/>
          <p:cNvGraphicFramePr/>
          <p:nvPr/>
        </p:nvGraphicFramePr>
        <p:xfrm>
          <a:off x="130810" y="1007110"/>
          <a:ext cx="8844915" cy="348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025"/>
                <a:gridCol w="2317750"/>
                <a:gridCol w="2350770"/>
                <a:gridCol w="2071370"/>
              </a:tblGrid>
              <a:tr h="665480">
                <a:tc>
                  <a:txBody>
                    <a:bodyPr/>
                    <a:p>
                      <a:pPr indent="0" algn="ctr" fontAlgn="auto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Phase 1</a:t>
                      </a:r>
                      <a:endParaRPr lang="en-US"/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 Phase 2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  Phase 3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 Phase 4</a:t>
                      </a:r>
                      <a:endParaRPr lang="en-US" sz="18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/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2816860">
                <a:tc>
                  <a:txBody>
                    <a:bodyPr/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2000 student records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34 attributes/student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5 courses covered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Source: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 Kaggle + synthetic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Target: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Pass / Fail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Missing value handling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LabelEncoder (5 cols)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4 models trained &amp; compared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StandardScalar (26 cols)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Artifacts saved as .pkl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4 Models trained </a:t>
                      </a:r>
                      <a:b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</a:b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&amp; compared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Logistic Regression selected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fontAlgn="auto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Flask web application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Role-based login system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Teacher view: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 cohort analytics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Student view: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personal scores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Interactive Plotly charts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fontAlgn="auto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10-dimension rule analysis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predict_proba() risk scoring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4-tier risk classification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Early alert banners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 marL="285750" indent="-285750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Personalized action plans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fontAlgn="auto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39390" y="-50800"/>
            <a:ext cx="40614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Phase 1 - Dataset Preparation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64790" y="244475"/>
            <a:ext cx="361505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FAADC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2000 student records . 34 attributes . 5 courses</a:t>
            </a:r>
            <a:endParaRPr lang="en-US" sz="1400" dirty="0">
              <a:solidFill>
                <a:srgbClr val="8FAADC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80467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2,000</a:t>
            </a:r>
            <a:endParaRPr lang="en-US" sz="2200" b="1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225296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Student Records</a:t>
            </a:r>
            <a:endParaRPr lang="en-US" sz="1400" dirty="0">
              <a:solidFill>
                <a:schemeClr val="tx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68880" y="749808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80467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6534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34</a:t>
            </a:r>
            <a:endParaRPr lang="en-US" sz="2200" b="1" dirty="0">
              <a:solidFill>
                <a:srgbClr val="166534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68880" y="1225296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Attributes/Student</a:t>
            </a:r>
            <a:endParaRPr lang="en-US" sz="1400" dirty="0">
              <a:solidFill>
                <a:schemeClr val="tx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17720" y="749808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80467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30A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5</a:t>
            </a:r>
            <a:endParaRPr lang="en-US" sz="2200" b="1" dirty="0">
              <a:solidFill>
                <a:srgbClr val="7030A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17720" y="1225296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Courses Covered</a:t>
            </a:r>
            <a:endParaRPr lang="en-US" sz="1400" dirty="0">
              <a:solidFill>
                <a:schemeClr val="tx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66560" y="749808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80467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1B1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14.6%</a:t>
            </a:r>
            <a:endParaRPr lang="en-US" sz="2200" b="1" dirty="0">
              <a:solidFill>
                <a:srgbClr val="991B1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66560" y="1225296"/>
            <a:ext cx="1737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At-Risk Students</a:t>
            </a:r>
            <a:endParaRPr lang="en-US" sz="1400" dirty="0">
              <a:solidFill>
                <a:schemeClr val="tx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5" name="Text 18"/>
          <p:cNvSpPr/>
          <p:nvPr/>
        </p:nvSpPr>
        <p:spPr>
          <a:xfrm>
            <a:off x="320040" y="1599565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KEY ATTRIBUTES</a:t>
            </a:r>
            <a:endParaRPr 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72" name="Table 71"/>
          <p:cNvGraphicFramePr/>
          <p:nvPr/>
        </p:nvGraphicFramePr>
        <p:xfrm>
          <a:off x="250190" y="1875790"/>
          <a:ext cx="5309870" cy="3118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0150"/>
                <a:gridCol w="2839720"/>
              </a:tblGrid>
              <a:tr h="3118485"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6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Student_ID / Registration_No</a:t>
                      </a:r>
                      <a:endParaRPr lang="en-US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1B3A6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Attendance_Percentage</a:t>
                      </a:r>
                      <a:endParaRPr lang="en-US" altLang="zh-CN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1B3A6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Average_Assignment</a:t>
                      </a:r>
                      <a:endParaRPr lang="en-US" altLang="zh-CN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1B3A6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Average_Quiz</a:t>
                      </a:r>
                      <a:endParaRPr lang="en-US" altLang="zh-CN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1B3A6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Midterm_Exam</a:t>
                      </a:r>
                      <a:endParaRPr lang="en-US" altLang="zh-CN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1B3A6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Final_Exam</a:t>
                      </a:r>
                      <a:endParaRPr lang="en-US" altLang="zh-CN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1B3A6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CGPA / Previous_GPA</a:t>
                      </a:r>
                      <a:endParaRPr lang="en-US" altLang="zh-CN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1B3A6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Study_Hours_Per_Week</a:t>
                      </a:r>
                      <a:endParaRPr lang="en-US" altLang="zh-CN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1B3A6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Performance</a:t>
                      </a:r>
                      <a:endParaRPr lang="en-US" altLang="zh-CN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1B3A6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Final_Result</a:t>
                      </a:r>
                      <a:endParaRPr lang="en-US" altLang="zh-CN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en-US" sz="1400" b="1" dirty="0">
                        <a:solidFill>
                          <a:srgbClr val="1B3A6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Unique student identifier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Classes attended / Total classes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Mean of 3 assignment scores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Mean of 2 quiz scores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Midterm examination result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Final examination result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Cumulative grade point average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Self-reported weekly study hours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Excellent/VeryGood/Good/Avg/At-Risk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Binary target: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 Pass / Fail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ct val="90000"/>
                        </a:lnSpc>
                        <a:buNone/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3" name="Text 19"/>
          <p:cNvSpPr/>
          <p:nvPr/>
        </p:nvSpPr>
        <p:spPr>
          <a:xfrm>
            <a:off x="5873750" y="1623060"/>
            <a:ext cx="286321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DATASET </a:t>
            </a: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COMPOSITION</a:t>
            </a:r>
            <a:endParaRPr 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74" name="Table 73"/>
          <p:cNvGraphicFramePr/>
          <p:nvPr/>
        </p:nvGraphicFramePr>
        <p:xfrm>
          <a:off x="5674995" y="1894205"/>
          <a:ext cx="3317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975"/>
                <a:gridCol w="1866265"/>
              </a:tblGrid>
              <a:tr h="28346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2563E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Excellent</a:t>
                      </a:r>
                      <a:endParaRPr lang="en-US" sz="1800" b="1" dirty="0">
                        <a:solidFill>
                          <a:srgbClr val="2563E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rgbClr val="166534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Very Good</a:t>
                      </a:r>
                      <a:endParaRPr lang="en-US" altLang="zh-CN" sz="1800" b="1" dirty="0">
                        <a:solidFill>
                          <a:srgbClr val="166534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sz="1800" b="1" dirty="0">
                        <a:solidFill>
                          <a:srgbClr val="166534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rgbClr val="F59E0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Good</a:t>
                      </a:r>
                      <a:endParaRPr lang="en-US" altLang="zh-CN" sz="1800" b="1" dirty="0">
                        <a:solidFill>
                          <a:srgbClr val="F59E0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endParaRPr lang="en-US" altLang="zh-CN" sz="1800" b="1" dirty="0">
                        <a:solidFill>
                          <a:srgbClr val="F59E0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rgbClr val="5B21B6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Average</a:t>
                      </a:r>
                      <a:endParaRPr lang="en-US" altLang="zh-CN" sz="1800" b="1" dirty="0">
                        <a:solidFill>
                          <a:srgbClr val="5B21B6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endParaRPr lang="en-US" altLang="zh-CN" sz="1800" b="1" dirty="0">
                        <a:solidFill>
                          <a:srgbClr val="5B21B6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Arial" panose="020B060402020202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 b="1" dirty="0">
                          <a:solidFill>
                            <a:srgbClr val="991B1B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At-Risk</a:t>
                      </a:r>
                      <a:endParaRPr lang="en-US" altLang="zh-CN" sz="1800" b="1" dirty="0">
                        <a:solidFill>
                          <a:srgbClr val="991B1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sz="1800" b="1" dirty="0">
                        <a:solidFill>
                          <a:srgbClr val="991B1B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524 students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656 students</a:t>
                      </a:r>
                      <a:endParaRPr lang="en-US" altLang="zh-CN" sz="18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389 students</a:t>
                      </a:r>
                      <a:endParaRPr lang="en-US" altLang="zh-CN" sz="18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139 students</a:t>
                      </a:r>
                      <a:endParaRPr lang="en-US" altLang="zh-CN" sz="18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Arial" panose="020B0604020202020204" pitchFamily="34" charset="0"/>
                        </a:rPr>
                        <a:t>292 students</a:t>
                      </a:r>
                      <a:endParaRPr lang="en-US" altLang="zh-CN" sz="18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altLang="zh-CN" sz="18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66240" y="-79375"/>
            <a:ext cx="619887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Phase 2 - Preprocessing &amp; Machine Learning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87145" y="234315"/>
            <a:ext cx="683641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AD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Missing Value Handling  .  LabelEncoder (5cols)  .  StandardScaler (26 cols)  .  80/20 Split</a:t>
            </a:r>
            <a:endParaRPr lang="en-US" sz="1400" dirty="0">
              <a:solidFill>
                <a:srgbClr val="8FAADC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85470" y="889635"/>
                <a:ext cx="8558530" cy="69278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endParaRPr lang="en-US" sz="1400" b="1" dirty="0">
                  <a:solidFill>
                    <a:srgbClr val="2B4F8C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endParaRPr>
              </a:p>
              <a:p>
                <a:pPr algn="l"/>
                <a:endParaRPr lang="en-US" sz="1400" b="1" dirty="0">
                  <a:solidFill>
                    <a:srgbClr val="2B4F8C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endParaRPr>
              </a:p>
              <a:p>
                <a:pPr algn="l"/>
                <a:r>
                  <a:rPr lang="en-US" sz="1400" b="1" dirty="0">
                    <a:solidFill>
                      <a:srgbClr val="2B4F8C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Missing Values</a:t>
                </a:r>
                <a:endParaRPr lang="en-US" sz="1400" dirty="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l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Numeric cols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median imputation. Categorical cols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mode imputation. Zero missing values after cleaning.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l"/>
                <a:endParaRPr lang="en-US" sz="1400" dirty="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l"/>
                <a:endParaRPr lang="en-US" sz="140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70" y="889635"/>
                <a:ext cx="8558530" cy="692785"/>
              </a:xfrm>
              <a:prstGeom prst="rect">
                <a:avLst/>
              </a:prstGeom>
              <a:blipFill rotWithShape="1">
                <a:blip r:embed="rId1"/>
                <a:stretch>
                  <a:fillRect t="-42346" b="-42438"/>
                </a:stretch>
              </a:blip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06425" y="1753235"/>
            <a:ext cx="8540750" cy="692785"/>
          </a:xfrm>
          <a:prstGeom prst="rect">
            <a:avLst/>
          </a:prstGeom>
          <a:solidFill>
            <a:srgbClr val="AAAA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400" b="1" dirty="0">
              <a:solidFill>
                <a:srgbClr val="7C3AED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400" b="1" dirty="0">
                <a:solidFill>
                  <a:srgbClr val="7C3AED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Label Encoding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5 categorical features encoded: Gender, Course, Section, Sports_Activity, Club_Membership. Saved as student_feature_encoders_v1.pkl.</a:t>
            </a:r>
            <a:endParaRPr lang="en-US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600710" y="2616835"/>
            <a:ext cx="8546465" cy="6927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400" b="1" dirty="0">
              <a:solidFill>
                <a:srgbClr val="1A7F4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400" b="1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StandardScaler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26 numeric features standardized (zero mean, unit variance). Saved as student_scaler_v1.pkl. Only transform() on test/new data - never fit_transform().</a:t>
            </a:r>
            <a:endParaRPr lang="en-US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00075" y="3462020"/>
            <a:ext cx="8543925" cy="69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400" b="1" dirty="0">
              <a:solidFill>
                <a:srgbClr val="C2410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400" b="1" dirty="0">
                <a:solidFill>
                  <a:schemeClr val="accent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Train/Test Split</a:t>
            </a:r>
            <a:endParaRPr lang="en-US" sz="1400" dirty="0">
              <a:solidFill>
                <a:schemeClr val="accent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80% training (1,600 rows) / 20% testing (400 rows). Stratified by Performance class. random_state=42 for reproducibility.</a:t>
            </a:r>
            <a:endParaRPr lang="en-US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175" y="889635"/>
            <a:ext cx="615315" cy="69278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1.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3175" y="1753235"/>
            <a:ext cx="615315" cy="69278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2.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0" y="2616835"/>
            <a:ext cx="615315" cy="69278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3.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0" y="3462020"/>
            <a:ext cx="615315" cy="6927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4.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73960" y="-79375"/>
            <a:ext cx="3972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Phase 2 - Model Comparison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12545" y="234315"/>
            <a:ext cx="636397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AD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4 algorithms evaluated on 31-feature dataset with 5-fold stratified cross-validation</a:t>
            </a:r>
            <a:endParaRPr lang="en-US" sz="1400" dirty="0">
              <a:solidFill>
                <a:srgbClr val="8FAAD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723265"/>
            <a:ext cx="39598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MODEL COMPARISON RESULTS</a:t>
            </a:r>
            <a:endParaRPr 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235710" y="1159510"/>
          <a:ext cx="6400800" cy="2989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/>
                <a:gridCol w="932815"/>
                <a:gridCol w="871220"/>
                <a:gridCol w="1067435"/>
                <a:gridCol w="1093470"/>
                <a:gridCol w="896620"/>
              </a:tblGrid>
              <a:tr h="485140"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Model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Accuracy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Precision</a:t>
                      </a:r>
                      <a:endParaRPr lang="en-US" sz="1200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Recall</a:t>
                      </a:r>
                      <a:endParaRPr lang="en-US" sz="1200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F1-Score</a:t>
                      </a:r>
                      <a:endParaRPr lang="en-US" sz="1200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Status</a:t>
                      </a:r>
                      <a:endParaRPr lang="en-US" sz="1200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</a:tr>
              <a:tr h="485140"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Logistic Regression</a:t>
                      </a:r>
                      <a:endParaRPr 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0.9650</a:t>
                      </a:r>
                      <a:endParaRPr lang="en-US" alt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0.9656</a:t>
                      </a:r>
                      <a:endParaRPr lang="en-US" alt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0.9650</a:t>
                      </a:r>
                      <a:endParaRPr lang="en-US" alt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0.9647</a:t>
                      </a:r>
                      <a:endParaRPr 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Best</a:t>
                      </a:r>
                      <a:endParaRPr 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485140"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Random Forest</a:t>
                      </a:r>
                      <a:endParaRPr lang="en-US" sz="1200" b="1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b="1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0.9225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0.9226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0.9225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0.9221</a:t>
                      </a:r>
                      <a:endParaRPr lang="en-US" sz="1200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Good</a:t>
                      </a:r>
                      <a:endParaRPr lang="en-US" sz="1200" b="1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b="1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85140"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Decision Tree</a:t>
                      </a:r>
                      <a:endParaRPr lang="en-US" sz="1200" b="1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b="1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0.8925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0.8945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0.8925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0.8931</a:t>
                      </a:r>
                      <a:endParaRPr lang="en-US" sz="1200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Good</a:t>
                      </a:r>
                      <a:endParaRPr lang="en-US" sz="1200" b="1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b="1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85140"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Support Vector Machine</a:t>
                      </a:r>
                      <a:endParaRPr lang="en-US" sz="1200" b="1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b="1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0.9175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0.9214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0.9175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0.9116</a:t>
                      </a:r>
                      <a:endParaRPr lang="en-US" sz="1200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lang="en-US" sz="1200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Times New Roman" panose="02020603050405020304" charset="0"/>
                          <a:ea typeface="Arial" panose="020B0604020202020204" pitchFamily="34" charset="-122"/>
                          <a:cs typeface="Times New Roman" panose="02020603050405020304" charset="0"/>
                          <a:sym typeface="+mn-ea"/>
                        </a:rPr>
                        <a:t>Good</a:t>
                      </a:r>
                      <a:endParaRPr lang="en-US" sz="1200" b="1" dirty="0">
                        <a:solidFill>
                          <a:srgbClr val="374151"/>
                        </a:solidFill>
                        <a:latin typeface="Times New Roman" panose="02020603050405020304" charset="0"/>
                        <a:ea typeface="Arial" panose="020B0604020202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73960" y="-79375"/>
            <a:ext cx="3972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Phase 2 - Model Comparison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12545" y="234315"/>
            <a:ext cx="636397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AD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4 algorithms evaluated on 31-feature dataset with 5-fold stratified cross-validation</a:t>
            </a:r>
            <a:endParaRPr lang="en-US" sz="1400" dirty="0">
              <a:solidFill>
                <a:srgbClr val="8FAAD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723265"/>
            <a:ext cx="39598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91" name="Text 26"/>
          <p:cNvSpPr/>
          <p:nvPr/>
        </p:nvSpPr>
        <p:spPr>
          <a:xfrm>
            <a:off x="320040" y="799973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0000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Why logistic Mode?</a:t>
            </a:r>
            <a:endParaRPr lang="en-US" sz="1400" b="1" kern="0" spc="200" dirty="0">
              <a:solidFill>
                <a:srgbClr val="C0000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279525" y="1224915"/>
            <a:ext cx="6345555" cy="91313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</a:t>
            </a:r>
            <a:endParaRPr lang="en-US" sz="1600" b="1" dirty="0">
              <a:solidFill>
                <a:srgbClr val="1A7F4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Best Accuracy</a:t>
            </a:r>
            <a:endParaRPr 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96.50% test accuracy - highest among all 4 models on this dataset.</a:t>
            </a:r>
            <a:endParaRPr 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1815" y="2411095"/>
            <a:ext cx="7687310" cy="91313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50000"/>
              </a:lnSpc>
            </a:pPr>
            <a:br>
              <a:rPr lang="en-US" sz="1600" b="1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600" b="1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Probability Output</a:t>
            </a:r>
            <a:endParaRPr lang="en-US" sz="1600" b="1" dirty="0">
              <a:solidFill>
                <a:schemeClr val="bg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predict_proba() gives fail probability per student - powers the 4-tier risk system in Phase 4.</a:t>
            </a:r>
            <a:endParaRPr 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22375" y="3597275"/>
            <a:ext cx="6345555" cy="91313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50000"/>
              </a:lnSpc>
            </a:pPr>
            <a:endParaRPr lang="en-US" sz="1600" b="1" dirty="0">
              <a:solidFill>
                <a:schemeClr val="bg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Fast Inference</a:t>
            </a:r>
            <a:endParaRPr 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Fastest runtime - all 2,000 students scored at server startup with no delay.</a:t>
            </a:r>
            <a:endParaRPr 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57120" y="-71120"/>
            <a:ext cx="458597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Phase 2 - ML Artifacts (.pkl Files)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64285" y="314325"/>
            <a:ext cx="657415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AD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Four artifacts saved using Joblib - loaded by Phase 3 &amp; Phase 4 app.py at server startup</a:t>
            </a:r>
            <a:endParaRPr lang="en-US" sz="1400" dirty="0">
              <a:solidFill>
                <a:srgbClr val="8FAADC"/>
              </a:solidFill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8FAADC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595" y="889635"/>
            <a:ext cx="9082405" cy="6927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200" b="1" dirty="0">
                <a:solidFill>
                  <a:srgbClr val="2B4F8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student_model_v1.pkl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Trained Logistic Regression model 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Used by predict_all_students() to generate pass/fail predictions and probability scores for all 2,000 students.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rgbClr val="64748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			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80" y="1753235"/>
            <a:ext cx="9065895" cy="692785"/>
          </a:xfrm>
          <a:prstGeom prst="rect">
            <a:avLst/>
          </a:prstGeom>
          <a:solidFill>
            <a:srgbClr val="AAAA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7C3AED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200" b="1" dirty="0">
                <a:solidFill>
                  <a:srgbClr val="7C3AED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student_scaler_v1.pkl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Fitted StandardScaler (26 numeric features)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Applied via scaler.transform() on new data. Never re-fitted - ensures same normalization as Phase 2 training.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95250" y="2616835"/>
            <a:ext cx="9051925" cy="6927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1A7F4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200" b="1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student_encoder_v1.pkl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LabelEncoder for Performance (target label)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Decodes model's integer predictions back to human-readable labels: Excellent, Very Good, Good, Average, At-Risk.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97790" y="3462020"/>
            <a:ext cx="9046210" cy="69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C2410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200" b="1" dirty="0">
                <a:solidFill>
                  <a:srgbClr val="C2410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student_feature_encoders_v1.pkl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Dict of 5 LabelEncoders for categorical features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Encodes Gender, Course, Section, Sports_Activity, Club_Membership. Unknown values mapped to first known class to prevent errors</a:t>
            </a:r>
            <a:r>
              <a:rPr lang="en-US" sz="1200" dirty="0">
                <a:solidFill>
                  <a:srgbClr val="37415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175" y="889635"/>
            <a:ext cx="76200" cy="69278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3175" y="1753235"/>
            <a:ext cx="77470" cy="69278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0" y="2616835"/>
            <a:ext cx="97790" cy="69278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0" y="3462020"/>
            <a:ext cx="95250" cy="6927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30500" y="-41275"/>
            <a:ext cx="44170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Phase 3 - Interactive Dashboard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85085" y="239395"/>
            <a:ext cx="4546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FAADC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Flask web app . Role-based login . Teacher &amp; Student views</a:t>
            </a:r>
            <a:endParaRPr lang="en-US" sz="1400" dirty="0">
              <a:solidFill>
                <a:srgbClr val="8FAADC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4251960" cy="4187952"/>
          </a:xfrm>
          <a:prstGeom prst="roundRect">
            <a:avLst>
              <a:gd name="adj" fmla="val 2183"/>
            </a:avLst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749808"/>
            <a:ext cx="4251960" cy="475488"/>
          </a:xfrm>
          <a:prstGeom prst="roundRect">
            <a:avLst>
              <a:gd name="adj" fmla="val 15385"/>
            </a:avLst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49808"/>
            <a:ext cx="4251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👩‍ 🏫    Teacher Dashboard</a:t>
            </a:r>
            <a:endParaRPr lang="en-US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57200" y="1547368"/>
            <a:ext cx="3977640" cy="3062605"/>
            <a:chOff x="720" y="2045"/>
            <a:chExt cx="6264" cy="4823"/>
          </a:xfrm>
        </p:grpSpPr>
        <p:sp>
          <p:nvSpPr>
            <p:cNvPr id="11" name="Text 9"/>
            <p:cNvSpPr/>
            <p:nvPr/>
          </p:nvSpPr>
          <p:spPr>
            <a:xfrm>
              <a:off x="720" y="2045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indent="0">
                <a:buSzPct val="100000"/>
                <a:buNone/>
              </a:pPr>
              <a:r>
                <a:rPr lang="en-US" sz="1400" b="1" dirty="0">
                  <a:solidFill>
                    <a:srgbClr val="1B3A6B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</a:t>
              </a:r>
              <a:r>
                <a:rPr lang="en-US" sz="1400" b="1" dirty="0">
                  <a:solidFill>
                    <a:schemeClr val="tx1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 </a:t>
              </a:r>
              <a:r>
                <a:rPr lang="en-US" sz="1400" b="1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rPr>
                <a:t>6 KPI stat cards: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rPr>
                <a:t> Total, Pass, Fail, Avg Final Exam, Avg Attendance, Avg CGPA</a:t>
              </a:r>
              <a:endParaRPr lang="en-US" sz="14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720" y="2916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indent="0">
                <a:buSzPct val="100000"/>
                <a:buNone/>
              </a:pPr>
              <a:r>
                <a:rPr lang="en-US" sz="1400" b="1" dirty="0">
                  <a:solidFill>
                    <a:srgbClr val="1B3A6B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</a:t>
              </a:r>
              <a:r>
                <a:rPr lang="en-US" sz="1400" b="1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3 interactive Plotly charts: </a:t>
              </a:r>
              <a:r>
                <a:rPr lang="en-US" sz="1400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Pass/Fail donut, Performance bar, Score breakdown</a:t>
              </a:r>
              <a:endParaRPr 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20" y="3858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3A6B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 </a:t>
              </a:r>
              <a:r>
                <a:rPr lang="en-US" sz="1400" b="1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Tabbed student table: </a:t>
              </a:r>
              <a:r>
                <a:rPr lang="en-US" sz="1400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At-Risk (sorted by fail %) and All Students tabs</a:t>
              </a:r>
              <a:endParaRPr lang="en-US" sz="1400" dirty="0">
                <a:solidFill>
                  <a:schemeClr val="tx1"/>
                </a:solidFill>
              </a:endParaRPr>
            </a:p>
            <a:p>
              <a:pPr marL="0" indent="0">
                <a:buNone/>
              </a:pPr>
              <a:endParaRPr lang="en-US" sz="14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20" y="4394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indent="0">
                <a:buSzPct val="100000"/>
                <a:buNone/>
              </a:pPr>
              <a:r>
                <a:rPr lang="en-US" sz="1400" b="1" dirty="0">
                  <a:solidFill>
                    <a:srgbClr val="1B3A6B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 </a:t>
              </a:r>
              <a:r>
                <a:rPr lang="en-US" sz="1400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Live search/filter across all records</a:t>
              </a:r>
              <a:endParaRPr 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20" y="5223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indent="0">
                <a:buSzPct val="100000"/>
                <a:buNone/>
              </a:pPr>
              <a:r>
                <a:rPr lang="en-US" sz="1400" b="1" dirty="0">
                  <a:solidFill>
                    <a:srgbClr val="1B3A6B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</a:t>
              </a:r>
              <a:r>
                <a:rPr lang="en-US" sz="1400" b="1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CSV export:</a:t>
              </a:r>
              <a:r>
                <a:rPr lang="en-US" sz="1400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 At-Risk only or full dataset with predictions</a:t>
              </a:r>
              <a:endParaRPr 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720" y="6263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3A6B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 </a:t>
              </a:r>
              <a:r>
                <a:rPr lang="en-US" sz="1400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Alert banner showing at-risk count with intervention message</a:t>
              </a:r>
              <a:endParaRPr lang="en-US" sz="1400" dirty="0">
                <a:solidFill>
                  <a:schemeClr val="tx1"/>
                </a:solidFill>
              </a:endParaRPr>
            </a:p>
            <a:p>
              <a:pPr marL="0" indent="0">
                <a:buNone/>
              </a:pPr>
              <a:endParaRPr lang="en-US" sz="14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endParaRPr>
            </a:p>
          </p:txBody>
        </p:sp>
      </p:grpSp>
      <p:sp>
        <p:nvSpPr>
          <p:cNvPr id="19" name="Shape 17"/>
          <p:cNvSpPr/>
          <p:nvPr/>
        </p:nvSpPr>
        <p:spPr>
          <a:xfrm>
            <a:off x="4736592" y="749808"/>
            <a:ext cx="4251960" cy="4187952"/>
          </a:xfrm>
          <a:prstGeom prst="roundRect">
            <a:avLst>
              <a:gd name="adj" fmla="val 2183"/>
            </a:avLst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749808"/>
            <a:ext cx="4251960" cy="475488"/>
          </a:xfrm>
          <a:prstGeom prst="roundRect">
            <a:avLst>
              <a:gd name="adj" fmla="val 15385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749808"/>
            <a:ext cx="4251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🎓  Student Dashboard</a:t>
            </a:r>
            <a:endParaRPr lang="en-US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873625" y="1537335"/>
            <a:ext cx="3977640" cy="3165475"/>
            <a:chOff x="7675" y="2135"/>
            <a:chExt cx="6264" cy="4985"/>
          </a:xfrm>
        </p:grpSpPr>
        <p:sp>
          <p:nvSpPr>
            <p:cNvPr id="22" name="Text 20"/>
            <p:cNvSpPr/>
            <p:nvPr/>
          </p:nvSpPr>
          <p:spPr>
            <a:xfrm>
              <a:off x="7675" y="2135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indent="0">
                <a:buSzPct val="100000"/>
                <a:buNone/>
              </a:pPr>
              <a:r>
                <a:rPr lang="en-US" sz="1400" b="1" dirty="0">
                  <a:solidFill>
                    <a:srgbClr val="166534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 </a:t>
              </a:r>
              <a:r>
                <a:rPr lang="en-US" sz="1400" b="1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Student banner:</a:t>
              </a:r>
              <a:r>
                <a:rPr lang="en-US" sz="1400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 predicted outcome badge, risk color coding</a:t>
              </a:r>
              <a:endParaRPr 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675" y="2982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6534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 </a:t>
              </a:r>
              <a:r>
                <a:rPr lang="en-US" sz="1400" b="1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6 mini stat cards:</a:t>
              </a:r>
              <a:r>
                <a:rPr lang="en-US" sz="1400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 Prev GPA, Attendance, Study Hrs, Library, Online Hrs, Total Score</a:t>
              </a:r>
              <a:endParaRPr lang="en-US" sz="1400" dirty="0">
                <a:solidFill>
                  <a:schemeClr val="tx1"/>
                </a:solidFill>
              </a:endParaRPr>
            </a:p>
            <a:p>
              <a:pPr marL="0" indent="0">
                <a:buNone/>
              </a:pPr>
              <a:endParaRPr lang="en-US" sz="14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7675" y="3612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indent="0">
                <a:buSzPct val="100000"/>
                <a:buNone/>
              </a:pPr>
              <a:r>
                <a:rPr lang="en-US" sz="1400" b="1" dirty="0">
                  <a:solidFill>
                    <a:srgbClr val="166534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</a:t>
              </a:r>
              <a:r>
                <a:rPr lang="en-US" sz="1400" b="1" dirty="0">
                  <a:solidFill>
                    <a:schemeClr val="tx1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Score progress bars with +/- delta vs class averages</a:t>
              </a:r>
              <a:endParaRPr 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7675" y="4216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6534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 </a:t>
              </a:r>
              <a:r>
                <a:rPr lang="en-US" sz="1400" b="1" dirty="0">
                  <a:solidFill>
                    <a:schemeClr val="tx1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Grouped bar chart: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 Student vs Class</a:t>
              </a:r>
              <a:endParaRPr lang="en-US" sz="14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7675" y="4959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indent="0">
                <a:buSzPct val="100000"/>
                <a:buNone/>
              </a:pPr>
              <a:r>
                <a:rPr lang="en-US" sz="1400" b="1" dirty="0">
                  <a:solidFill>
                    <a:srgbClr val="166534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 </a:t>
              </a:r>
              <a:r>
                <a:rPr lang="en-US" sz="1400" b="1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Grouped bar chart:</a:t>
              </a:r>
              <a:r>
                <a:rPr lang="en-US" sz="1400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 student vs class average across 6 categories</a:t>
              </a:r>
              <a:endParaRPr 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675" y="5813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indent="0">
                <a:buSzPct val="100000"/>
                <a:buNone/>
              </a:pPr>
              <a:r>
                <a:rPr lang="en-US" sz="1400" b="1" dirty="0">
                  <a:solidFill>
                    <a:srgbClr val="166534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 </a:t>
              </a:r>
              <a:r>
                <a:rPr lang="en-US" sz="1400" b="1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Strengths section:</a:t>
              </a:r>
              <a:r>
                <a:rPr lang="en-US" sz="1400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 badges for above-average dimensions</a:t>
              </a:r>
              <a:endParaRPr 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7675" y="6516"/>
              <a:ext cx="6264" cy="605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indent="0">
                <a:buSzPct val="100000"/>
                <a:buNone/>
              </a:pPr>
              <a:r>
                <a:rPr lang="en-US" sz="1400" b="1" dirty="0">
                  <a:solidFill>
                    <a:srgbClr val="166534"/>
                  </a:solidFill>
                  <a:latin typeface="Times New Roman" panose="02020603050405020304" charset="0"/>
                  <a:ea typeface="Arial" panose="020B0604020202020204" pitchFamily="34" charset="-122"/>
                  <a:cs typeface="Times New Roman" panose="02020603050405020304" charset="0"/>
                </a:rPr>
                <a:t>✓  </a:t>
              </a:r>
              <a:r>
                <a:rPr lang="en-US" sz="1400" dirty="0">
                  <a:solidFill>
                    <a:schemeClr val="tx1"/>
                  </a:solidFill>
                  <a:latin typeface="Calibri" panose="020F050202020403020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Personalized recommendation cards from Phase 4 engine</a:t>
              </a:r>
              <a:endParaRPr 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endParaRPr>
            </a:p>
          </p:txBody>
        </p:sp>
      </p:grpSp>
      <p:sp>
        <p:nvSpPr>
          <p:cNvPr id="29" name="Text 27"/>
          <p:cNvSpPr/>
          <p:nvPr/>
        </p:nvSpPr>
        <p:spPr>
          <a:xfrm>
            <a:off x="4873752" y="4114800"/>
            <a:ext cx="3977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37415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35" y="4572000"/>
            <a:ext cx="9130665" cy="571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28240" y="-71120"/>
            <a:ext cx="458597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ML Prediction Pipeline - 5 Steps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41070" y="340995"/>
            <a:ext cx="72263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AD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predict_all_students() in app.py - bulletproof pipeline, immune to MySQL extra column issues</a:t>
            </a:r>
            <a:endParaRPr lang="en-US" sz="1400" dirty="0">
              <a:solidFill>
                <a:srgbClr val="8FAAD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8FAAD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0" y="711835"/>
                <a:ext cx="9144000" cy="69278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endParaRPr lang="en-US" sz="1200" b="1" dirty="0">
                  <a:solidFill>
                    <a:srgbClr val="2B4F8C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endParaRPr>
              </a:p>
              <a:p>
                <a:pPr algn="l"/>
                <a:endParaRPr lang="en-US" sz="1200" b="1" dirty="0">
                  <a:solidFill>
                    <a:srgbClr val="2B4F8C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endParaRPr>
              </a:p>
              <a:p>
                <a:pPr algn="l"/>
                <a:endParaRPr lang="en-US" sz="1200" b="1" dirty="0">
                  <a:solidFill>
                    <a:srgbClr val="2B4F8C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endParaRPr>
              </a:p>
              <a:p>
                <a:pPr marL="457200" lvl="1" indent="457200" algn="l"/>
                <a:r>
                  <a:rPr lang="en-US" sz="1400" b="1" dirty="0">
                    <a:solidFill>
                      <a:srgbClr val="2B4F8C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Encode Categoricals</a:t>
                </a:r>
                <a:endParaRPr lang="en-US" sz="1400" dirty="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marL="457200" lvl="1" indent="457200" algn="l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Apply student_feature_encoders_v1.pkl to 5 cols. Unknown </a:t>
                </a:r>
                <a14:m>
                  <m:oMath xmlns:m="http://schemas.openxmlformats.org/officeDocument/2006/math">
                    <m:r>
                      <a:rPr lang="en-US" sz="1400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first known class.</a:t>
                </a:r>
                <a:endParaRPr lang="en-US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l"/>
                <a:r>
                  <a:rPr lang="en-US" sz="1200" dirty="0">
                    <a:solidFill>
                      <a:srgbClr val="64748B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			</a:t>
                </a:r>
                <a:endParaRPr lang="en-US" sz="1200" dirty="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l"/>
                <a:endParaRPr lang="en-US" sz="1200" dirty="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l"/>
                <a:endParaRPr lang="en-US" sz="120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11835"/>
                <a:ext cx="9144000" cy="692785"/>
              </a:xfrm>
              <a:prstGeom prst="rect">
                <a:avLst/>
              </a:prstGeom>
              <a:blipFill rotWithShape="1">
                <a:blip r:embed="rId1"/>
                <a:stretch>
                  <a:fillRect t="-59945" b="-60037"/>
                </a:stretch>
              </a:blip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0" y="1575435"/>
            <a:ext cx="9147175" cy="692785"/>
          </a:xfrm>
          <a:prstGeom prst="rect">
            <a:avLst/>
          </a:prstGeom>
          <a:solidFill>
            <a:srgbClr val="AAAAC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7C3AED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457200" lvl="1" indent="457200" algn="l"/>
            <a:r>
              <a:rPr lang="en-US" sz="1400" b="1" dirty="0">
                <a:solidFill>
                  <a:srgbClr val="7C3AED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Select Exactly 31 Features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 algn="l"/>
            <a:r>
              <a:rPr lang="en-US" sz="14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Explicitly pick the 31 MODEL_COLS in exact order. Ignores MySQL id column - root fix.</a:t>
            </a:r>
            <a:endParaRPr lang="en-US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Rectangle 88"/>
              <p:cNvSpPr/>
              <p:nvPr/>
            </p:nvSpPr>
            <p:spPr>
              <a:xfrm>
                <a:off x="635" y="2439035"/>
                <a:ext cx="9146540" cy="69278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endParaRPr lang="en-US" sz="1200" b="1" dirty="0">
                  <a:solidFill>
                    <a:srgbClr val="1A7F4E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endParaRPr>
              </a:p>
              <a:p>
                <a:pPr marL="457200" lvl="1" indent="457200" algn="l"/>
                <a:r>
                  <a:rPr lang="en-US" sz="1400" b="1" dirty="0">
                    <a:solidFill>
                      <a:srgbClr val="1A7F4E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NaN/Inf Cleanup</a:t>
                </a:r>
                <a:endParaRPr lang="en-US" sz="1400" dirty="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marL="457200" lvl="1" indent="457200" algn="l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Coerce numeric </a:t>
                </a:r>
                <a14:m>
                  <m:oMath xmlns:m="http://schemas.openxmlformats.org/officeDocument/2006/math">
                    <m:r>
                      <a:rPr lang="en-US" sz="1400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fill NaN with medians </a:t>
                </a:r>
                <a14:m>
                  <m:oMath xmlns:m="http://schemas.openxmlformats.org/officeDocument/2006/math">
                    <m:r>
                      <a:rPr lang="en-US" sz="1400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fill 0 </a:t>
                </a:r>
                <a14:m>
                  <m:oMath xmlns:m="http://schemas.openxmlformats.org/officeDocument/2006/math">
                    <m:r>
                      <a:rPr lang="en-US" sz="1400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replace ±inf. Triple-layer safety.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l"/>
                <a:endParaRPr lang="en-US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l"/>
                <a:endParaRPr lang="en-US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" y="2439035"/>
                <a:ext cx="9146540" cy="692785"/>
              </a:xfrm>
              <a:prstGeom prst="rect">
                <a:avLst/>
              </a:prstGeom>
              <a:blipFill rotWithShape="1">
                <a:blip r:embed="rId2"/>
                <a:stretch>
                  <a:fillRect t="-20348" b="-20440"/>
                </a:stretch>
              </a:blip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ectangle 89"/>
          <p:cNvSpPr/>
          <p:nvPr/>
        </p:nvSpPr>
        <p:spPr>
          <a:xfrm>
            <a:off x="-635" y="3284220"/>
            <a:ext cx="9144635" cy="69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C2410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457200" lvl="1" indent="457200" algn="l"/>
            <a:r>
              <a:rPr lang="en-US" sz="1400" b="1" dirty="0">
                <a:solidFill>
                  <a:srgbClr val="C2410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StandardScaler Transform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 algn="l"/>
            <a:r>
              <a:rPr lang="en-US" sz="14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scaler.transform() on 26 numeric cols. Never re-fit. Post-scale cleanup applied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-2540" y="4129405"/>
                <a:ext cx="9159240" cy="6927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endParaRPr lang="en-US" sz="1200" b="1" dirty="0">
                  <a:solidFill>
                    <a:srgbClr val="C2410C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endParaRPr>
              </a:p>
              <a:p>
                <a:pPr marL="457200" lvl="1" indent="457200" algn="l"/>
                <a:r>
                  <a:rPr lang="en-US" sz="1400" b="1" dirty="0">
                    <a:solidFill>
                      <a:srgbClr val="0EA5E9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Predict + Decode</a:t>
                </a:r>
                <a:endParaRPr lang="en-US" sz="1400" dirty="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marL="457200" lvl="1" indent="457200" algn="l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model.predict() </a:t>
                </a:r>
                <a14:m>
                  <m:oMath xmlns:m="http://schemas.openxmlformats.org/officeDocument/2006/math">
                    <m:r>
                      <a:rPr lang="en-US" sz="1400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decoder.inverse_transform(). predict_proba()[At-Risk_idx] × 100 </a:t>
                </a:r>
                <a14:m>
                  <m:oMath xmlns:m="http://schemas.openxmlformats.org/officeDocument/2006/math">
                    <m:r>
                      <a:rPr lang="en-US" sz="1400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Fail_Probability.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l"/>
                <a:endParaRPr lang="en-US" sz="1200" dirty="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l"/>
                <a:endParaRPr lang="en-US" sz="120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40" y="4129405"/>
                <a:ext cx="9159240" cy="692785"/>
              </a:xfrm>
              <a:prstGeom prst="rect">
                <a:avLst/>
              </a:prstGeom>
              <a:blipFill rotWithShape="1">
                <a:blip r:embed="rId3"/>
                <a:stretch>
                  <a:fillRect t="-20348" b="-20440"/>
                </a:stretch>
              </a:blip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3175" y="683895"/>
            <a:ext cx="738505" cy="73533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Step</a:t>
            </a:r>
            <a:br>
              <a:rPr lang="en-US" sz="14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35" y="1532890"/>
            <a:ext cx="738505" cy="73533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Step</a:t>
            </a:r>
            <a:br>
              <a:rPr lang="en-US" sz="14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3335" y="2399665"/>
            <a:ext cx="738505" cy="73533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Step</a:t>
            </a:r>
            <a:br>
              <a:rPr lang="en-US" sz="14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C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-2540" y="3264535"/>
            <a:ext cx="738505" cy="735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Step</a:t>
            </a:r>
            <a:br>
              <a:rPr lang="en-US" sz="14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D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3335" y="4086860"/>
            <a:ext cx="738505" cy="73533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Step</a:t>
            </a:r>
            <a:br>
              <a:rPr lang="en-US" sz="14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E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645795" y="4898390"/>
            <a:ext cx="777430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Data Leakage Prevention: MODEL_COLS never includes Final_Result or Performance. scaler.transform() only - never re-fit on new data.</a:t>
            </a:r>
            <a:endParaRPr lang="en-US" sz="1000" b="1" dirty="0">
              <a:solidFill>
                <a:srgbClr val="B91C1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>
          <a:xfrm>
            <a:off x="4777740" y="3671570"/>
            <a:ext cx="43662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b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</a:br>
            <a: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 </a:t>
            </a:r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Extra Classes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rgbClr val="4B556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Triggered when Fail Probability &gt;= 30%. 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 Links to tutorial session enrollment.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777740" y="3671570"/>
            <a:ext cx="382905" cy="5410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10.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777740" y="3003550"/>
            <a:ext cx="43662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b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Project Score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rgbClr val="4B556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&lt; 40 = Below standard. &lt; Class Avg - 10 = Warning.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&gt; = 80 = Strength.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777740" y="3003550"/>
            <a:ext cx="382905" cy="5410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9.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777740" y="2335530"/>
            <a:ext cx="43662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b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</a:br>
            <a: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</a:t>
            </a:r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Lab Work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rgbClr val="4B556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&lt; 40 = Needs attention. &lt; Class Avg - 10 = Warning. 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 &gt;= 80 = Strength.</a:t>
            </a:r>
            <a:endParaRPr lang="en-US" sz="1200" dirty="0"/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777740" y="2335530"/>
            <a:ext cx="382905" cy="5410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8.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777740" y="1667510"/>
            <a:ext cx="43662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1E3A5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CGPA</a:t>
            </a:r>
            <a:b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&lt; 2.0 = Critical (probation alert). &lt; Class Avg - 0.5 = Warning 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 &gt; = 3.5 = Strength.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777740" y="1667510"/>
            <a:ext cx="382905" cy="5410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7.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777740" y="999490"/>
            <a:ext cx="43662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</a:t>
            </a:r>
            <a:b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</a:t>
            </a:r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Study Hours</a:t>
            </a:r>
            <a:endParaRPr lang="en-US" sz="1200" b="1" dirty="0">
              <a:solidFill>
                <a:srgbClr val="1E3A5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200" dirty="0">
                <a:solidFill>
                  <a:srgbClr val="4B556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&lt; 5 hrs/week = Very Low. &lt; Class Avg - 5 = Warning. 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 &gt; = 20 =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Strength.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777740" y="999490"/>
            <a:ext cx="382905" cy="5410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6.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1270" y="3672205"/>
            <a:ext cx="43662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Final Exam</a:t>
            </a:r>
            <a:endParaRPr lang="en-US" sz="1200" b="1" dirty="0">
              <a:solidFill>
                <a:srgbClr val="1E3A5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200" dirty="0">
                <a:solidFill>
                  <a:srgbClr val="4B556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&lt; 40 = Critical alert. &lt; Class Avg - 10 = Warning. 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&gt; = 80 = Strength.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0" y="3672205"/>
            <a:ext cx="382905" cy="5410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5.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1270" y="3004185"/>
            <a:ext cx="43662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b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</a:br>
            <a: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</a:t>
            </a:r>
            <a:b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</a:br>
            <a: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</a:t>
            </a:r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Midterm Exam</a:t>
            </a:r>
            <a:endParaRPr lang="en-US" sz="1200" b="1" dirty="0">
              <a:solidFill>
                <a:srgbClr val="1E3A5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en-US" sz="1200" dirty="0">
                <a:solidFill>
                  <a:srgbClr val="4B556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&lt; 40 = Critical alert. &lt; Class Avg - 10 = Warning. 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&gt; = 80 =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Strength.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</a:t>
            </a:r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0" y="3004185"/>
            <a:ext cx="382905" cy="5410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4.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-1270" y="2336165"/>
            <a:ext cx="43662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indent="457200">
              <a:buNone/>
            </a:pPr>
            <a:b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Quiz Score</a:t>
            </a:r>
            <a:endParaRPr lang="en-US" sz="1200" b="1" dirty="0">
              <a:solidFill>
                <a:srgbClr val="1E3A5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&lt; 40 = Serious. &lt; Class Avg - 10 = Warning. 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&gt; = 80 = Strength.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0" y="2336165"/>
            <a:ext cx="382905" cy="5410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3.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270" y="1668145"/>
            <a:ext cx="43662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</a:t>
            </a:r>
            <a:b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</a:br>
            <a: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 </a:t>
            </a:r>
            <a:b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</a:br>
            <a:r>
              <a:rPr lang="en-US" sz="1200" b="1" dirty="0">
                <a:solidFill>
                  <a:srgbClr val="1E3A5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</a:t>
            </a:r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Assignment Score</a:t>
            </a:r>
            <a:b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&lt; 40 = Critical. &lt; Class Avg - 10 = Warning.     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&gt; = 80 = Strength.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1668145"/>
            <a:ext cx="382905" cy="5410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2.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270" y="1000125"/>
            <a:ext cx="4366260" cy="541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457200" algn="l"/>
            <a:endParaRPr lang="en-US" sz="1200" b="1" dirty="0">
              <a:solidFill>
                <a:srgbClr val="1E3A5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indent="457200" algn="l"/>
            <a:endParaRPr lang="en-US" sz="1200" b="1" dirty="0">
              <a:solidFill>
                <a:srgbClr val="1E3A5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indent="457200" algn="l"/>
            <a:r>
              <a:rPr lang="en-US" sz="1200" b="1" dirty="0">
                <a:solidFill>
                  <a:srgbClr val="1E3A5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Attendance</a:t>
            </a:r>
            <a:endParaRPr lang="en-US" sz="1200" b="1" dirty="0">
              <a:solidFill>
                <a:srgbClr val="1E3A5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indent="457200" algn="l"/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&lt; 60% = Critical alert (exam barred risk). &lt; 75% = Warning.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&gt; = 90% = Strength.</a:t>
            </a:r>
            <a:r>
              <a:rPr lang="en-US" sz="1200" dirty="0">
                <a:solidFill>
                  <a:srgbClr val="4B556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   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/>
            <a:endParaRPr lang="en-US" sz="1200" dirty="0"/>
          </a:p>
          <a:p>
            <a:pPr indent="457200"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0" y="999490"/>
            <a:ext cx="382905" cy="5410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</a:rPr>
              <a:t>1.</a:t>
            </a:r>
            <a:endParaRPr 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88110" y="10795"/>
            <a:ext cx="671766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Phase 4 - Recommendations Engine Using Python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0" y="711200"/>
            <a:ext cx="6304280" cy="3822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10 Academic Dimensions  .  4 Risk Tiers  .  Early Alerts  .  Strengths Recognition</a:t>
            </a:r>
            <a:endParaRPr lang="en-US" sz="14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r">
              <a:buNone/>
            </a:pPr>
            <a:endParaRPr lang="en-US" sz="1400" b="1" dirty="0">
              <a:solidFill>
                <a:schemeClr val="tx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55190" y="-50800"/>
            <a:ext cx="448627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Risk Level Classification System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66825" y="215900"/>
            <a:ext cx="601091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AD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4-tier risk classification from predict_proba() At-Risk class probability</a:t>
            </a:r>
            <a:endParaRPr lang="en-US" sz="1400" dirty="0">
              <a:solidFill>
                <a:srgbClr val="8FAAD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749935"/>
            <a:ext cx="401447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4-TIER RISK CLASSIFICATION</a:t>
            </a:r>
            <a:endParaRPr 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08204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FEE2E2"/>
          </a:solidFill>
          <a:ln w="10160">
            <a:solidFill>
              <a:srgbClr val="991B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82040"/>
            <a:ext cx="1965960" cy="640080"/>
          </a:xfrm>
          <a:prstGeom prst="roundRect">
            <a:avLst>
              <a:gd name="adj" fmla="val 1714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8204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🔴   CRITICAL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813560"/>
            <a:ext cx="1783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Fail Prob ≥ 70%</a:t>
            </a:r>
            <a:endParaRPr lang="en-US" sz="1200" b="1" dirty="0">
              <a:solidFill>
                <a:srgbClr val="991B1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9768" y="2270760"/>
            <a:ext cx="1755648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Immediate intervention. Multiple early alert banners displayed. Extra classes enrollment suggested.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468880" y="108204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FEF3C7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1082040"/>
            <a:ext cx="1965960" cy="640080"/>
          </a:xfrm>
          <a:prstGeom prst="roundRect">
            <a:avLst>
              <a:gd name="adj" fmla="val 17143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08204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🟠  HIGH RISK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60320" y="1813560"/>
            <a:ext cx="1783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Fail Prob 50 – 69%</a:t>
            </a:r>
            <a:endParaRPr lang="en-US" sz="1000" b="1" dirty="0">
              <a:solidFill>
                <a:srgbClr val="92400E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78608" y="2270760"/>
            <a:ext cx="1755648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Urgent academic support. Targeted recommendations for weakest dimensions.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17720" y="108204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082040"/>
            <a:ext cx="1965960" cy="64008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08204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🔵    MEDIUM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09160" y="1813560"/>
            <a:ext cx="1783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Fail Prob 30 – 49%</a:t>
            </a:r>
            <a:endParaRPr lang="en-US" sz="1000" b="1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27448" y="2270760"/>
            <a:ext cx="1755648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Monitoring recommended. Improvement guidance and extra sessions suggested.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66560" y="108204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DCFCE7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1082040"/>
            <a:ext cx="1965960" cy="640080"/>
          </a:xfrm>
          <a:prstGeom prst="roundRect">
            <a:avLst>
              <a:gd name="adj" fmla="val 17143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082040"/>
            <a:ext cx="1965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🟢  LOW RISK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8000" y="1813560"/>
            <a:ext cx="1783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Fail Prob &lt; 30%</a:t>
            </a:r>
            <a:endParaRPr lang="en-US" sz="1000" b="1" dirty="0">
              <a:solidFill>
                <a:srgbClr val="166534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76288" y="2270760"/>
            <a:ext cx="1755648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Continue current performance. Strengths highlighted. Mentorship opportunities suggested.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" y="4362450"/>
            <a:ext cx="8503920" cy="475488"/>
          </a:xfrm>
          <a:prstGeom prst="roundRect">
            <a:avLst>
              <a:gd name="adj" fmla="val 19231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noFill/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All 2,000 students receive a Fail_Probability score from predict_proba(). 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Students with Performance='At-Risk' are classified into one of these tiers; all others display Low/Green.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937760" y="4590288"/>
            <a:ext cx="182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1B1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·</a:t>
            </a:r>
            <a:endParaRPr lang="en-US" sz="1200" dirty="0">
              <a:solidFill>
                <a:srgbClr val="991B1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92240" y="4590288"/>
            <a:ext cx="1828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1B1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·</a:t>
            </a:r>
            <a:endParaRPr lang="en-US" sz="1200" dirty="0">
              <a:solidFill>
                <a:srgbClr val="991B1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93720" y="-88900"/>
            <a:ext cx="2880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System Architecture 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97785" y="206375"/>
            <a:ext cx="395033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From raw CSV data to browser dashboard in 7 steps</a:t>
            </a:r>
            <a:endParaRPr lang="en-US" sz="1400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230" y="749935"/>
            <a:ext cx="346392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END-TO-END DATA FLOW</a:t>
            </a:r>
            <a:endParaRPr 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22985"/>
            <a:ext cx="9144000" cy="56896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indent="457200" algn="l"/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Load Artifacts</a:t>
            </a:r>
            <a:b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student_model_v1.pkl, student_scaler_v1.pkl, student_encoder_v1.pkl, student_feature_encoders_v1.pkl</a:t>
            </a:r>
            <a:endParaRPr lang="en-US" alt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1200" dirty="0">
                <a:solidFill>
                  <a:srgbClr val="64748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			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0" y="1636395"/>
            <a:ext cx="9144000" cy="5689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indent="457200" algn="l"/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Import Data</a:t>
            </a:r>
            <a:b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First run: 2,000 rows imported from processed_student_data.csv. Subsequent runs: loaded from MySQL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	</a:t>
            </a:r>
            <a:r>
              <a:rPr lang="en-US" sz="1200" dirty="0">
                <a:solidFill>
                  <a:srgbClr val="64748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		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0" y="2249805"/>
            <a:ext cx="9144000" cy="5689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indent="457200" algn="l"/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Predict All</a:t>
            </a:r>
            <a:b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Adds Performance, Final_Result, Fail_Probability columns to all 2,000 records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	</a:t>
            </a:r>
            <a:r>
              <a:rPr lang="en-US" sz="1200" dirty="0">
                <a:solidFill>
                  <a:srgbClr val="64748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		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0" y="2863215"/>
            <a:ext cx="9144000" cy="5689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indent="457200" algn="l"/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Save Predictions</a:t>
            </a:r>
            <a:b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Upserts Predicted_Result, Fail_Probability, Risk_Level to predictions table</a:t>
            </a:r>
            <a:r>
              <a:rPr lang="en-US" sz="1200" dirty="0">
                <a:solidFill>
                  <a:srgbClr val="64748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		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0" y="3488055"/>
            <a:ext cx="9144000" cy="5689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algn="l"/>
            <a:endParaRPr lang="en-US" sz="1200" b="1" dirty="0">
              <a:solidFill>
                <a:srgbClr val="2B4F8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indent="457200" algn="l"/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Login</a:t>
            </a:r>
            <a:b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Teacher: password only. Student: Student_ID + password</a:t>
            </a:r>
            <a:r>
              <a:rPr lang="en-US" sz="1200" dirty="0">
                <a:solidFill>
                  <a:srgbClr val="64748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		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75665" y="4112895"/>
            <a:ext cx="3671570" cy="568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Teacher View</a:t>
            </a:r>
            <a:b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Analytics charts + at-risk table + CSV export</a:t>
            </a:r>
            <a:endParaRPr lang="en-US" alt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632325" y="4112895"/>
            <a:ext cx="4104640" cy="568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   Student View</a:t>
            </a:r>
            <a:b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</a:b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  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Scores + comparison + recommendations engine output</a:t>
            </a:r>
            <a:endParaRPr lang="en-US" alt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28540"/>
            <a:ext cx="9144000" cy="31496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96415" y="-6985"/>
            <a:ext cx="575373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Dashboard Screenshots - System in Action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00885" y="282575"/>
            <a:ext cx="50063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Teacher Dashboard . Student Dashboard . Recommendations View</a:t>
            </a:r>
            <a:endParaRPr lang="en-US" sz="1400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3380" y="749935"/>
            <a:ext cx="5730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56DC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TEACHER DASHBOARD -</a:t>
            </a: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 KPI CARDS AND CHARTS</a:t>
            </a:r>
            <a:endParaRPr lang="en-US" alt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pic>
        <p:nvPicPr>
          <p:cNvPr id="32" name="Picture 32" descr="teacher 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785" y="998855"/>
            <a:ext cx="7759065" cy="38214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9335"/>
            <a:ext cx="9144000" cy="304165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6595" y="19685"/>
            <a:ext cx="57277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Dashboard Screenshots - System in Action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34820" y="282575"/>
            <a:ext cx="544131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Teacher Dashboard . Student Dashboard . Recommendations View</a:t>
            </a:r>
            <a:endParaRPr lang="en-US" sz="1400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65910" y="713105"/>
            <a:ext cx="610743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56DC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TEACHER DASHBOARD -</a:t>
            </a: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 AT-RISK STUDENTS TABLE</a:t>
            </a:r>
            <a:endParaRPr lang="en-US" alt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pic>
        <p:nvPicPr>
          <p:cNvPr id="33" name="Picture 33" descr="teacher dashbaord at risk or all studen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443" y="1283653"/>
            <a:ext cx="6635115" cy="2576195"/>
          </a:xfrm>
          <a:prstGeom prst="rect">
            <a:avLst/>
          </a:prstGeom>
        </p:spPr>
      </p:pic>
      <p:pic>
        <p:nvPicPr>
          <p:cNvPr id="6" name="Picture 33" descr="teacher dashbaord at risk or all studen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305" y="1022985"/>
            <a:ext cx="9171305" cy="3561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8855"/>
            <a:ext cx="9144000" cy="334645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24915" y="749935"/>
            <a:ext cx="749363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lvl="0" indent="0" algn="dist">
              <a:buNone/>
            </a:pPr>
            <a:r>
              <a:rPr lang="en-US" sz="1400" b="1" kern="0" spc="200" dirty="0">
                <a:solidFill>
                  <a:srgbClr val="1456DC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STUDENT DASHBOARD -</a:t>
            </a: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 </a:t>
            </a:r>
            <a:r>
              <a:rPr lang="en-US" altLang="en-US" sz="1400" b="1" dirty="0">
                <a:solidFill>
                  <a:srgbClr val="1456DC"/>
                </a:solidFill>
                <a:latin typeface="Times New Roman" panose="02020603050405020304" charset="0"/>
                <a:cs typeface="Times New Roman" panose="02020603050405020304" charset="0"/>
              </a:rPr>
              <a:t>BANNER, MINI-CARDS, AND SCORE COMPARISON</a:t>
            </a:r>
            <a:endParaRPr lang="en-US" altLang="en-US" sz="1400" b="1" dirty="0">
              <a:solidFill>
                <a:srgbClr val="1456D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451100" y="1000125"/>
            <a:ext cx="4851400" cy="3922395"/>
            <a:chOff x="1983" y="-716"/>
            <a:chExt cx="10462" cy="8458"/>
          </a:xfrm>
        </p:grpSpPr>
        <p:pic>
          <p:nvPicPr>
            <p:cNvPr id="5" name="Picture 36" descr="student dashbaord at risk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83" y="-716"/>
              <a:ext cx="10463" cy="4780"/>
            </a:xfrm>
            <a:prstGeom prst="rect">
              <a:avLst/>
            </a:prstGeom>
          </p:spPr>
        </p:pic>
        <p:pic>
          <p:nvPicPr>
            <p:cNvPr id="6" name="Picture 37" descr="student dashbaord at risk part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0" y="4050"/>
              <a:ext cx="10449" cy="3692"/>
            </a:xfrm>
            <a:prstGeom prst="rect">
              <a:avLst/>
            </a:prstGeom>
          </p:spPr>
        </p:pic>
      </p:grpSp>
      <p:sp>
        <p:nvSpPr>
          <p:cNvPr id="11" name="Text 2"/>
          <p:cNvSpPr/>
          <p:nvPr/>
        </p:nvSpPr>
        <p:spPr>
          <a:xfrm>
            <a:off x="1966595" y="19685"/>
            <a:ext cx="57277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Dashboard Screenshots - System in Action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1734820" y="282575"/>
            <a:ext cx="544131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Teacher Dashboard . Student Dashboard . Recommendations View</a:t>
            </a:r>
            <a:endParaRPr lang="en-US" sz="1400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84580" y="749935"/>
            <a:ext cx="714057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STUDENT DASHBOARD - RECOMMENDATIONS ENGINE OUTPUT </a:t>
            </a:r>
            <a:endParaRPr 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133600" y="1073150"/>
            <a:ext cx="5114290" cy="3444875"/>
            <a:chOff x="1976" y="-103"/>
            <a:chExt cx="10449" cy="7038"/>
          </a:xfrm>
        </p:grpSpPr>
        <p:pic>
          <p:nvPicPr>
            <p:cNvPr id="38" name="Picture 38" descr="student dashbaord at risk part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76" y="-103"/>
              <a:ext cx="10449" cy="2287"/>
            </a:xfrm>
            <a:prstGeom prst="rect">
              <a:avLst/>
            </a:prstGeom>
          </p:spPr>
        </p:pic>
        <p:pic>
          <p:nvPicPr>
            <p:cNvPr id="41" name="Picture 41" descr="student dashabord at risk part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1" y="2184"/>
              <a:ext cx="10444" cy="2271"/>
            </a:xfrm>
            <a:prstGeom prst="rect">
              <a:avLst/>
            </a:prstGeom>
          </p:spPr>
        </p:pic>
        <p:pic>
          <p:nvPicPr>
            <p:cNvPr id="42" name="Picture 42" descr="student dashbaord at risk part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6" y="4469"/>
              <a:ext cx="10449" cy="2467"/>
            </a:xfrm>
            <a:prstGeom prst="rect">
              <a:avLst/>
            </a:prstGeom>
          </p:spPr>
        </p:pic>
      </p:grpSp>
      <p:sp>
        <p:nvSpPr>
          <p:cNvPr id="8" name="Text 2"/>
          <p:cNvSpPr/>
          <p:nvPr/>
        </p:nvSpPr>
        <p:spPr>
          <a:xfrm>
            <a:off x="1966595" y="19685"/>
            <a:ext cx="57277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Dashboard Screenshots - System in Action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734820" y="282575"/>
            <a:ext cx="544131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Teacher Dashboard . Student Dashboard . Recommendations View</a:t>
            </a:r>
            <a:endParaRPr lang="en-US" sz="1400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-60325"/>
            <a:ext cx="3012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Results &amp; Evaluation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00275" y="219075"/>
            <a:ext cx="47625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3C5FD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Model performance . Dataset summary . System achievements</a:t>
            </a:r>
            <a:endParaRPr lang="en-US" sz="1400" dirty="0">
              <a:solidFill>
                <a:srgbClr val="93C5FD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2679192" cy="768096"/>
          </a:xfrm>
          <a:prstGeom prst="roundRect">
            <a:avLst>
              <a:gd name="adj" fmla="val 11905"/>
            </a:avLst>
          </a:prstGeom>
          <a:solidFill>
            <a:srgbClr val="B9CEF8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804672"/>
            <a:ext cx="2679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2,000</a:t>
            </a:r>
            <a:endParaRPr lang="en-US" sz="2200" b="1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225296"/>
            <a:ext cx="2679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Total Students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54680" y="749808"/>
            <a:ext cx="2679192" cy="768096"/>
          </a:xfrm>
          <a:prstGeom prst="roundRect">
            <a:avLst>
              <a:gd name="adj" fmla="val 11905"/>
            </a:avLst>
          </a:prstGeom>
          <a:solidFill>
            <a:srgbClr val="BEDAAA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804672"/>
            <a:ext cx="2679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6534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85.4%</a:t>
            </a:r>
            <a:endParaRPr lang="en-US" sz="2200" b="1" dirty="0">
              <a:solidFill>
                <a:srgbClr val="166534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54680" y="1225296"/>
            <a:ext cx="2679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Pass Rate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89320" y="749808"/>
            <a:ext cx="2679192" cy="768096"/>
          </a:xfrm>
          <a:prstGeom prst="roundRect">
            <a:avLst>
              <a:gd name="adj" fmla="val 11905"/>
            </a:avLst>
          </a:prstGeom>
          <a:solidFill>
            <a:srgbClr val="D5BEEA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804672"/>
            <a:ext cx="2679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30A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96.5%</a:t>
            </a:r>
            <a:endParaRPr lang="en-US" sz="2200" b="1" dirty="0">
              <a:solidFill>
                <a:srgbClr val="7030A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89320" y="1225296"/>
            <a:ext cx="2679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Model Accuracy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1645920"/>
            <a:ext cx="2679192" cy="768096"/>
          </a:xfrm>
          <a:prstGeom prst="roundRect">
            <a:avLst>
              <a:gd name="adj" fmla="val 11905"/>
            </a:avLst>
          </a:prstGeom>
          <a:solidFill>
            <a:srgbClr val="F9CFB4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1700784"/>
            <a:ext cx="2679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0.9647</a:t>
            </a:r>
            <a:endParaRPr lang="en-US" sz="2200" b="1" dirty="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040" y="2121408"/>
            <a:ext cx="2679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F1-Score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154680" y="1645920"/>
            <a:ext cx="2679192" cy="768096"/>
          </a:xfrm>
          <a:prstGeom prst="roundRect">
            <a:avLst>
              <a:gd name="adj" fmla="val 11905"/>
            </a:avLst>
          </a:prstGeom>
          <a:solidFill>
            <a:srgbClr val="8FD1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1700784"/>
            <a:ext cx="2679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0C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10</a:t>
            </a:r>
            <a:endParaRPr lang="en-US" sz="2200" b="1" dirty="0">
              <a:solidFill>
                <a:srgbClr val="0070C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154680" y="2121408"/>
            <a:ext cx="2679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Rec. Dimensions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89320" y="1645920"/>
            <a:ext cx="2679192" cy="768096"/>
          </a:xfrm>
          <a:prstGeom prst="roundRect">
            <a:avLst>
              <a:gd name="adj" fmla="val 11905"/>
            </a:avLst>
          </a:prstGeom>
          <a:solidFill>
            <a:srgbClr val="FFD1D1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89320" y="1700784"/>
            <a:ext cx="2679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4</a:t>
            </a:r>
            <a:endParaRPr lang="en-US" sz="2200" b="1" dirty="0">
              <a:solidFill>
                <a:srgbClr val="C0000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89320" y="2121408"/>
            <a:ext cx="2679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Risk Levels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" y="2542032"/>
            <a:ext cx="4160520" cy="2395728"/>
          </a:xfrm>
          <a:prstGeom prst="roundRect">
            <a:avLst>
              <a:gd name="adj" fmla="val 3817"/>
            </a:avLst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2580640"/>
            <a:ext cx="3886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Model: Logistic Regression</a:t>
            </a:r>
            <a:endParaRPr lang="en-US" sz="14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84048" y="2999232"/>
            <a:ext cx="4005072" cy="24688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99232"/>
            <a:ext cx="20116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Train Accuracy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514600" y="2999232"/>
            <a:ext cx="1737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96.5%</a:t>
            </a:r>
            <a:endParaRPr lang="en-US" sz="12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84048" y="3264408"/>
            <a:ext cx="4005072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64408"/>
            <a:ext cx="20116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Test Accuracy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514600" y="3264408"/>
            <a:ext cx="1737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96.5%</a:t>
            </a:r>
            <a:endParaRPr lang="en-US" sz="12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84048" y="3529584"/>
            <a:ext cx="4005072" cy="24688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3529584"/>
            <a:ext cx="20116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Weighted Precision 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514600" y="3529584"/>
            <a:ext cx="1737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0.9656</a:t>
            </a:r>
            <a:endParaRPr lang="en-US" sz="12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84048" y="3794760"/>
            <a:ext cx="4005072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794760"/>
            <a:ext cx="20116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Weighted Recall 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514600" y="3794760"/>
            <a:ext cx="1737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0.9650</a:t>
            </a:r>
            <a:endParaRPr lang="en-US" sz="12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84048" y="4059936"/>
            <a:ext cx="4005072" cy="24688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059936"/>
            <a:ext cx="20116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Weighted F1-Score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514600" y="4059936"/>
            <a:ext cx="1737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0.9647</a:t>
            </a:r>
            <a:endParaRPr lang="en-US" sz="12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84048" y="4325112"/>
            <a:ext cx="4005072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325112"/>
            <a:ext cx="20116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Features Used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866265" y="4324985"/>
            <a:ext cx="2385695" cy="2470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31 features(26 numeric+ 5 Categorical)</a:t>
            </a:r>
            <a:r>
              <a:rPr lang="en-US" sz="10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 </a:t>
            </a:r>
            <a:endParaRPr lang="en-US" sz="10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84048" y="4590288"/>
            <a:ext cx="4005072" cy="24688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590288"/>
            <a:ext cx="20116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Saved As</a:t>
            </a:r>
            <a:endParaRPr lang="en-US" sz="1200" dirty="0">
              <a:solidFill>
                <a:srgbClr val="6B728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564640" y="4590415"/>
            <a:ext cx="2835910" cy="2470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06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student_model_v1.pkl, student_scaler_v1.pkl</a:t>
            </a:r>
            <a:endParaRPr lang="en-US" sz="1050" b="1" dirty="0">
              <a:solidFill>
                <a:srgbClr val="00206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663440" y="2542032"/>
            <a:ext cx="4160520" cy="2395728"/>
          </a:xfrm>
          <a:prstGeom prst="roundRect">
            <a:avLst>
              <a:gd name="adj" fmla="val 3817"/>
            </a:avLst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00600" y="2543810"/>
            <a:ext cx="3886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Key Achievements</a:t>
            </a:r>
            <a:endParaRPr lang="en-US" sz="14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46320" y="3649345"/>
            <a:ext cx="3977640" cy="18484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br>
              <a:rPr lang="en-US" sz="1200" b="1" dirty="0">
                <a:solidFill>
                  <a:srgbClr val="166534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</a:br>
            <a:r>
              <a:rPr lang="en-US" sz="1200" b="1" dirty="0">
                <a:solidFill>
                  <a:srgbClr val="166534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✓</a:t>
            </a:r>
            <a:r>
              <a:rPr lang="en-US" sz="1200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Role-based login (Teacher / Student)</a:t>
            </a:r>
            <a:endParaRPr lang="en-US" sz="1200" dirty="0">
              <a:solidFill>
                <a:srgbClr val="1A7F4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✓</a:t>
            </a:r>
            <a:r>
              <a:rPr lang="en-US" sz="1200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Zero data leakage in ML pipeline</a:t>
            </a:r>
            <a:endParaRPr lang="en-US" sz="1200" dirty="0">
              <a:solidFill>
                <a:srgbClr val="1A7F4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✓</a:t>
            </a:r>
            <a:r>
              <a:rPr lang="en-US" sz="1200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10-dimension recommendations engine</a:t>
            </a:r>
            <a:endParaRPr lang="en-US" sz="1200" dirty="0">
              <a:solidFill>
                <a:srgbClr val="1A7F4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✓</a:t>
            </a:r>
            <a:r>
              <a:rPr lang="en-US" sz="1200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Bulletproof 5-step ML pipeline</a:t>
            </a:r>
            <a:endParaRPr lang="en-US" sz="1200" dirty="0">
              <a:solidFill>
                <a:srgbClr val="1A7F4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✓</a:t>
            </a:r>
            <a:r>
              <a:rPr lang="en-US" sz="1200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Interactive Plotly charts (3 teacher + 1 student)</a:t>
            </a:r>
            <a:endParaRPr lang="en-US" sz="1200" dirty="0">
              <a:solidFill>
                <a:srgbClr val="1A7F4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✓</a:t>
            </a:r>
            <a:r>
              <a:rPr lang="en-US" sz="1200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Early alert banners for 5 critical thresholds</a:t>
            </a:r>
            <a:endParaRPr lang="en-US" sz="1200" dirty="0">
              <a:solidFill>
                <a:srgbClr val="1A7F4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✓</a:t>
            </a:r>
            <a:r>
              <a:rPr lang="en-US" sz="1200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4-tier risk classification system</a:t>
            </a:r>
            <a:endParaRPr lang="en-US" sz="1200" dirty="0">
              <a:solidFill>
                <a:srgbClr val="1A7F4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✓</a:t>
            </a:r>
            <a:r>
              <a:rPr lang="en-US" sz="1200" dirty="0">
                <a:solidFill>
                  <a:srgbClr val="1A7F4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  CSV export for at-risk and all students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  </a:t>
            </a:r>
            <a:br>
              <a:rPr lang="en-US" sz="1200" dirty="0">
                <a:solidFill>
                  <a:srgbClr val="37415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</a:br>
            <a:endParaRPr lang="en-US" sz="1200" dirty="0">
              <a:solidFill>
                <a:srgbClr val="37415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59" name="Text 27"/>
          <p:cNvSpPr/>
          <p:nvPr/>
        </p:nvSpPr>
        <p:spPr>
          <a:xfrm>
            <a:off x="5029200" y="3911346"/>
            <a:ext cx="3749040" cy="1417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0" name="Text 29"/>
          <p:cNvSpPr/>
          <p:nvPr/>
        </p:nvSpPr>
        <p:spPr>
          <a:xfrm>
            <a:off x="5029200" y="4213098"/>
            <a:ext cx="3749040" cy="1417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2" name="Text 26"/>
          <p:cNvSpPr/>
          <p:nvPr/>
        </p:nvSpPr>
        <p:spPr>
          <a:xfrm>
            <a:off x="5029200" y="4274820"/>
            <a:ext cx="3749040" cy="1417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3" name="Text 28"/>
          <p:cNvSpPr/>
          <p:nvPr/>
        </p:nvSpPr>
        <p:spPr>
          <a:xfrm>
            <a:off x="5029200" y="4576572"/>
            <a:ext cx="3749040" cy="1417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4" name="Text 30"/>
          <p:cNvSpPr/>
          <p:nvPr/>
        </p:nvSpPr>
        <p:spPr>
          <a:xfrm>
            <a:off x="5029200" y="4878324"/>
            <a:ext cx="3749040" cy="1417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"/>
            <a:ext cx="9144000" cy="51403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"/>
          <p:cNvSpPr/>
          <p:nvPr/>
        </p:nvSpPr>
        <p:spPr>
          <a:xfrm>
            <a:off x="-9525" y="-19050"/>
            <a:ext cx="9172575" cy="657225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-9525" y="-11430"/>
            <a:ext cx="9144000" cy="54991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44420" y="-25400"/>
            <a:ext cx="396811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Tools And Technologies Used</a:t>
            </a:r>
            <a:endParaRPr lang="en-US" sz="2400" b="1" dirty="0">
              <a:solidFill>
                <a:schemeClr val="bg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228600" y="586740"/>
            <a:ext cx="8686165" cy="3895090"/>
            <a:chOff x="360" y="1296"/>
            <a:chExt cx="13679" cy="6134"/>
          </a:xfrm>
        </p:grpSpPr>
        <p:sp>
          <p:nvSpPr>
            <p:cNvPr id="6" name="Shape 2"/>
            <p:cNvSpPr/>
            <p:nvPr/>
          </p:nvSpPr>
          <p:spPr>
            <a:xfrm>
              <a:off x="360" y="1296"/>
              <a:ext cx="2621" cy="1872"/>
            </a:xfrm>
            <a:prstGeom prst="rect">
              <a:avLst/>
            </a:prstGeom>
            <a:solidFill>
              <a:srgbClr val="EFF6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8" name="Shape 3"/>
            <p:cNvSpPr/>
            <p:nvPr/>
          </p:nvSpPr>
          <p:spPr>
            <a:xfrm>
              <a:off x="360" y="1296"/>
              <a:ext cx="2621" cy="576"/>
            </a:xfrm>
            <a:prstGeom prst="rect">
              <a:avLst/>
            </a:prstGeom>
            <a:solidFill>
              <a:srgbClr val="2B4F8C"/>
            </a:solidFill>
            <a:ln w="12700">
              <a:solidFill>
                <a:srgbClr val="2B4F8C"/>
              </a:solidFill>
              <a:prstDash val="solid"/>
            </a:ln>
          </p:spPr>
        </p:sp>
        <p:sp>
          <p:nvSpPr>
            <p:cNvPr id="9" name="Text 4"/>
            <p:cNvSpPr/>
            <p:nvPr/>
          </p:nvSpPr>
          <p:spPr>
            <a:xfrm>
              <a:off x="432" y="1296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Python 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10" name="Text 5"/>
            <p:cNvSpPr/>
            <p:nvPr/>
          </p:nvSpPr>
          <p:spPr>
            <a:xfrm>
              <a:off x="432" y="1944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Core language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11" name="Shape 6"/>
            <p:cNvSpPr/>
            <p:nvPr/>
          </p:nvSpPr>
          <p:spPr>
            <a:xfrm>
              <a:off x="3125" y="1296"/>
              <a:ext cx="2621" cy="1872"/>
            </a:xfrm>
            <a:prstGeom prst="rect">
              <a:avLst/>
            </a:prstGeom>
            <a:solidFill>
              <a:srgbClr val="F0FDF4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2" name="Shape 7"/>
            <p:cNvSpPr/>
            <p:nvPr/>
          </p:nvSpPr>
          <p:spPr>
            <a:xfrm>
              <a:off x="3125" y="1296"/>
              <a:ext cx="2621" cy="576"/>
            </a:xfrm>
            <a:prstGeom prst="rect">
              <a:avLst/>
            </a:prstGeom>
            <a:solidFill>
              <a:srgbClr val="1A7F4E"/>
            </a:solidFill>
            <a:ln w="12700">
              <a:solidFill>
                <a:srgbClr val="1A7F4E"/>
              </a:solidFill>
              <a:prstDash val="solid"/>
            </a:ln>
          </p:spPr>
        </p:sp>
        <p:sp>
          <p:nvSpPr>
            <p:cNvPr id="13" name="Text 8"/>
            <p:cNvSpPr/>
            <p:nvPr/>
          </p:nvSpPr>
          <p:spPr>
            <a:xfrm>
              <a:off x="3197" y="1296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Flask 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14" name="Text 9"/>
            <p:cNvSpPr/>
            <p:nvPr/>
          </p:nvSpPr>
          <p:spPr>
            <a:xfrm>
              <a:off x="3197" y="1944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Web framework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15" name="Shape 10"/>
            <p:cNvSpPr/>
            <p:nvPr/>
          </p:nvSpPr>
          <p:spPr>
            <a:xfrm>
              <a:off x="5890" y="1296"/>
              <a:ext cx="2621" cy="1872"/>
            </a:xfrm>
            <a:prstGeom prst="rect">
              <a:avLst/>
            </a:prstGeom>
            <a:solidFill>
              <a:srgbClr val="FDF4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7" name="Shape 11"/>
            <p:cNvSpPr/>
            <p:nvPr/>
          </p:nvSpPr>
          <p:spPr>
            <a:xfrm>
              <a:off x="5890" y="1296"/>
              <a:ext cx="2621" cy="576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18" name="Text 12"/>
            <p:cNvSpPr/>
            <p:nvPr/>
          </p:nvSpPr>
          <p:spPr>
            <a:xfrm>
              <a:off x="5962" y="1296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Pandas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19" name="Text 13"/>
            <p:cNvSpPr/>
            <p:nvPr/>
          </p:nvSpPr>
          <p:spPr>
            <a:xfrm>
              <a:off x="5962" y="1944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Data processing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0" name="Shape 14"/>
            <p:cNvSpPr/>
            <p:nvPr/>
          </p:nvSpPr>
          <p:spPr>
            <a:xfrm>
              <a:off x="8654" y="1296"/>
              <a:ext cx="2621" cy="1872"/>
            </a:xfrm>
            <a:prstGeom prst="rect">
              <a:avLst/>
            </a:prstGeom>
            <a:solidFill>
              <a:srgbClr val="FFF7ED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1" name="Shape 15"/>
            <p:cNvSpPr/>
            <p:nvPr/>
          </p:nvSpPr>
          <p:spPr>
            <a:xfrm>
              <a:off x="8654" y="1296"/>
              <a:ext cx="2621" cy="576"/>
            </a:xfrm>
            <a:prstGeom prst="rect">
              <a:avLst/>
            </a:prstGeom>
            <a:solidFill>
              <a:srgbClr val="C2410C"/>
            </a:solidFill>
            <a:ln w="12700">
              <a:solidFill>
                <a:srgbClr val="C2410C"/>
              </a:solidFill>
              <a:prstDash val="solid"/>
            </a:ln>
          </p:spPr>
        </p:sp>
        <p:sp>
          <p:nvSpPr>
            <p:cNvPr id="22" name="Text 16"/>
            <p:cNvSpPr/>
            <p:nvPr/>
          </p:nvSpPr>
          <p:spPr>
            <a:xfrm>
              <a:off x="8726" y="1296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NumPy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3" name="Text 17"/>
            <p:cNvSpPr/>
            <p:nvPr/>
          </p:nvSpPr>
          <p:spPr>
            <a:xfrm>
              <a:off x="8726" y="1944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Numerical ops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4" name="Shape 18"/>
            <p:cNvSpPr/>
            <p:nvPr/>
          </p:nvSpPr>
          <p:spPr>
            <a:xfrm>
              <a:off x="11419" y="1296"/>
              <a:ext cx="2621" cy="1872"/>
            </a:xfrm>
            <a:prstGeom prst="rect">
              <a:avLst/>
            </a:prstGeom>
            <a:solidFill>
              <a:srgbClr val="F0F9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5" name="Shape 19"/>
            <p:cNvSpPr/>
            <p:nvPr/>
          </p:nvSpPr>
          <p:spPr>
            <a:xfrm>
              <a:off x="11419" y="1296"/>
              <a:ext cx="2621" cy="576"/>
            </a:xfrm>
            <a:prstGeom prst="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</p:sp>
        <p:sp>
          <p:nvSpPr>
            <p:cNvPr id="26" name="Text 20"/>
            <p:cNvSpPr/>
            <p:nvPr/>
          </p:nvSpPr>
          <p:spPr>
            <a:xfrm>
              <a:off x="11491" y="1296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Scikit-learn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7" name="Text 21"/>
            <p:cNvSpPr/>
            <p:nvPr/>
          </p:nvSpPr>
          <p:spPr>
            <a:xfrm>
              <a:off x="11491" y="1944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ML pipeline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8" name="Shape 22"/>
            <p:cNvSpPr/>
            <p:nvPr/>
          </p:nvSpPr>
          <p:spPr>
            <a:xfrm>
              <a:off x="360" y="3427"/>
              <a:ext cx="2621" cy="1872"/>
            </a:xfrm>
            <a:prstGeom prst="rect">
              <a:avLst/>
            </a:prstGeom>
            <a:solidFill>
              <a:srgbClr val="EFF6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9" name="Shape 23"/>
            <p:cNvSpPr/>
            <p:nvPr/>
          </p:nvSpPr>
          <p:spPr>
            <a:xfrm>
              <a:off x="360" y="3427"/>
              <a:ext cx="2621" cy="576"/>
            </a:xfrm>
            <a:prstGeom prst="rect">
              <a:avLst/>
            </a:prstGeom>
            <a:solidFill>
              <a:srgbClr val="2B4F8C"/>
            </a:solidFill>
            <a:ln w="12700">
              <a:solidFill>
                <a:srgbClr val="2B4F8C"/>
              </a:solidFill>
              <a:prstDash val="solid"/>
            </a:ln>
          </p:spPr>
        </p:sp>
        <p:sp>
          <p:nvSpPr>
            <p:cNvPr id="30" name="Text 24"/>
            <p:cNvSpPr/>
            <p:nvPr/>
          </p:nvSpPr>
          <p:spPr>
            <a:xfrm>
              <a:off x="432" y="3427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Joblib (.pkl)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31" name="Text 25"/>
            <p:cNvSpPr/>
            <p:nvPr/>
          </p:nvSpPr>
          <p:spPr>
            <a:xfrm>
              <a:off x="432" y="4075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Artifact storage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32" name="Shape 26"/>
            <p:cNvSpPr/>
            <p:nvPr/>
          </p:nvSpPr>
          <p:spPr>
            <a:xfrm>
              <a:off x="3125" y="3427"/>
              <a:ext cx="2621" cy="1872"/>
            </a:xfrm>
            <a:prstGeom prst="rect">
              <a:avLst/>
            </a:prstGeom>
            <a:solidFill>
              <a:srgbClr val="F0FDF4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3" name="Shape 27"/>
            <p:cNvSpPr/>
            <p:nvPr/>
          </p:nvSpPr>
          <p:spPr>
            <a:xfrm>
              <a:off x="3125" y="3427"/>
              <a:ext cx="2621" cy="576"/>
            </a:xfrm>
            <a:prstGeom prst="rect">
              <a:avLst/>
            </a:prstGeom>
            <a:solidFill>
              <a:srgbClr val="1A7F4E"/>
            </a:solidFill>
            <a:ln w="12700">
              <a:solidFill>
                <a:srgbClr val="1A7F4E"/>
              </a:solidFill>
              <a:prstDash val="solid"/>
            </a:ln>
          </p:spPr>
        </p:sp>
        <p:sp>
          <p:nvSpPr>
            <p:cNvPr id="34" name="Text 28"/>
            <p:cNvSpPr/>
            <p:nvPr/>
          </p:nvSpPr>
          <p:spPr>
            <a:xfrm>
              <a:off x="3197" y="3427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Plotly 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35" name="Text 29"/>
            <p:cNvSpPr/>
            <p:nvPr/>
          </p:nvSpPr>
          <p:spPr>
            <a:xfrm>
              <a:off x="3197" y="4075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Interactive charts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36" name="Shape 30"/>
            <p:cNvSpPr/>
            <p:nvPr/>
          </p:nvSpPr>
          <p:spPr>
            <a:xfrm>
              <a:off x="5890" y="3427"/>
              <a:ext cx="2621" cy="1872"/>
            </a:xfrm>
            <a:prstGeom prst="rect">
              <a:avLst/>
            </a:prstGeom>
            <a:solidFill>
              <a:srgbClr val="FDF4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7" name="Shape 31"/>
            <p:cNvSpPr/>
            <p:nvPr/>
          </p:nvSpPr>
          <p:spPr>
            <a:xfrm>
              <a:off x="5890" y="3427"/>
              <a:ext cx="2621" cy="576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38" name="Text 32"/>
            <p:cNvSpPr/>
            <p:nvPr/>
          </p:nvSpPr>
          <p:spPr>
            <a:xfrm>
              <a:off x="5962" y="3427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PyMySQL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39" name="Text 33"/>
            <p:cNvSpPr/>
            <p:nvPr/>
          </p:nvSpPr>
          <p:spPr>
            <a:xfrm>
              <a:off x="5962" y="4075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DB connector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0" name="Shape 34"/>
            <p:cNvSpPr/>
            <p:nvPr/>
          </p:nvSpPr>
          <p:spPr>
            <a:xfrm>
              <a:off x="8654" y="3427"/>
              <a:ext cx="2621" cy="1872"/>
            </a:xfrm>
            <a:prstGeom prst="rect">
              <a:avLst/>
            </a:prstGeom>
            <a:solidFill>
              <a:srgbClr val="FFF7ED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41" name="Shape 35"/>
            <p:cNvSpPr/>
            <p:nvPr/>
          </p:nvSpPr>
          <p:spPr>
            <a:xfrm>
              <a:off x="8654" y="3427"/>
              <a:ext cx="2621" cy="576"/>
            </a:xfrm>
            <a:prstGeom prst="rect">
              <a:avLst/>
            </a:prstGeom>
            <a:solidFill>
              <a:srgbClr val="C2410C"/>
            </a:solidFill>
            <a:ln w="12700">
              <a:solidFill>
                <a:srgbClr val="C2410C"/>
              </a:solidFill>
              <a:prstDash val="solid"/>
            </a:ln>
          </p:spPr>
        </p:sp>
        <p:sp>
          <p:nvSpPr>
            <p:cNvPr id="42" name="Text 36"/>
            <p:cNvSpPr/>
            <p:nvPr/>
          </p:nvSpPr>
          <p:spPr>
            <a:xfrm>
              <a:off x="8726" y="3427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MySQL 8.0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3" name="Text 37"/>
            <p:cNvSpPr/>
            <p:nvPr/>
          </p:nvSpPr>
          <p:spPr>
            <a:xfrm>
              <a:off x="8726" y="4075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Database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4" name="Shape 38"/>
            <p:cNvSpPr/>
            <p:nvPr/>
          </p:nvSpPr>
          <p:spPr>
            <a:xfrm>
              <a:off x="11419" y="3427"/>
              <a:ext cx="2621" cy="1872"/>
            </a:xfrm>
            <a:prstGeom prst="rect">
              <a:avLst/>
            </a:prstGeom>
            <a:solidFill>
              <a:srgbClr val="F0F9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45" name="Shape 39"/>
            <p:cNvSpPr/>
            <p:nvPr/>
          </p:nvSpPr>
          <p:spPr>
            <a:xfrm>
              <a:off x="11419" y="3427"/>
              <a:ext cx="2621" cy="576"/>
            </a:xfrm>
            <a:prstGeom prst="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</p:sp>
        <p:sp>
          <p:nvSpPr>
            <p:cNvPr id="46" name="Text 40"/>
            <p:cNvSpPr/>
            <p:nvPr/>
          </p:nvSpPr>
          <p:spPr>
            <a:xfrm>
              <a:off x="11491" y="3427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Jinja2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7" name="Text 41"/>
            <p:cNvSpPr/>
            <p:nvPr/>
          </p:nvSpPr>
          <p:spPr>
            <a:xfrm>
              <a:off x="11491" y="4075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Template engine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8" name="Shape 42"/>
            <p:cNvSpPr/>
            <p:nvPr/>
          </p:nvSpPr>
          <p:spPr>
            <a:xfrm>
              <a:off x="360" y="5558"/>
              <a:ext cx="2621" cy="1872"/>
            </a:xfrm>
            <a:prstGeom prst="rect">
              <a:avLst/>
            </a:prstGeom>
            <a:solidFill>
              <a:srgbClr val="EFF6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49" name="Shape 43"/>
            <p:cNvSpPr/>
            <p:nvPr/>
          </p:nvSpPr>
          <p:spPr>
            <a:xfrm>
              <a:off x="360" y="5558"/>
              <a:ext cx="2621" cy="576"/>
            </a:xfrm>
            <a:prstGeom prst="rect">
              <a:avLst/>
            </a:prstGeom>
            <a:solidFill>
              <a:srgbClr val="2B4F8C"/>
            </a:solidFill>
            <a:ln w="12700">
              <a:solidFill>
                <a:srgbClr val="2B4F8C"/>
              </a:solidFill>
              <a:prstDash val="solid"/>
            </a:ln>
          </p:spPr>
        </p:sp>
        <p:sp>
          <p:nvSpPr>
            <p:cNvPr id="50" name="Text 44"/>
            <p:cNvSpPr/>
            <p:nvPr/>
          </p:nvSpPr>
          <p:spPr>
            <a:xfrm>
              <a:off x="432" y="5558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StandardScaler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51" name="Text 45"/>
            <p:cNvSpPr/>
            <p:nvPr/>
          </p:nvSpPr>
          <p:spPr>
            <a:xfrm>
              <a:off x="432" y="6206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Feature scaling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52" name="Shape 46"/>
            <p:cNvSpPr/>
            <p:nvPr/>
          </p:nvSpPr>
          <p:spPr>
            <a:xfrm>
              <a:off x="3125" y="5558"/>
              <a:ext cx="2621" cy="1872"/>
            </a:xfrm>
            <a:prstGeom prst="rect">
              <a:avLst/>
            </a:prstGeom>
            <a:solidFill>
              <a:srgbClr val="F0FDF4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53" name="Shape 47"/>
            <p:cNvSpPr/>
            <p:nvPr/>
          </p:nvSpPr>
          <p:spPr>
            <a:xfrm>
              <a:off x="3125" y="5558"/>
              <a:ext cx="2621" cy="576"/>
            </a:xfrm>
            <a:prstGeom prst="rect">
              <a:avLst/>
            </a:prstGeom>
            <a:solidFill>
              <a:srgbClr val="1A7F4E"/>
            </a:solidFill>
            <a:ln w="12700">
              <a:solidFill>
                <a:srgbClr val="1A7F4E"/>
              </a:solidFill>
              <a:prstDash val="solid"/>
            </a:ln>
          </p:spPr>
        </p:sp>
        <p:sp>
          <p:nvSpPr>
            <p:cNvPr id="54" name="Text 48"/>
            <p:cNvSpPr/>
            <p:nvPr/>
          </p:nvSpPr>
          <p:spPr>
            <a:xfrm>
              <a:off x="3197" y="5558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LabelEncoder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55" name="Text 49"/>
            <p:cNvSpPr/>
            <p:nvPr/>
          </p:nvSpPr>
          <p:spPr>
            <a:xfrm>
              <a:off x="3197" y="6206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Categorical encoding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56" name="Shape 50"/>
            <p:cNvSpPr/>
            <p:nvPr/>
          </p:nvSpPr>
          <p:spPr>
            <a:xfrm>
              <a:off x="5890" y="5558"/>
              <a:ext cx="2621" cy="1872"/>
            </a:xfrm>
            <a:prstGeom prst="rect">
              <a:avLst/>
            </a:prstGeom>
            <a:solidFill>
              <a:srgbClr val="FDF4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57" name="Shape 51"/>
            <p:cNvSpPr/>
            <p:nvPr/>
          </p:nvSpPr>
          <p:spPr>
            <a:xfrm>
              <a:off x="5890" y="5558"/>
              <a:ext cx="2621" cy="576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58" name="Text 52"/>
            <p:cNvSpPr/>
            <p:nvPr/>
          </p:nvSpPr>
          <p:spPr>
            <a:xfrm>
              <a:off x="5962" y="5558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HTML / CSS / JS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59" name="Text 53"/>
            <p:cNvSpPr/>
            <p:nvPr/>
          </p:nvSpPr>
          <p:spPr>
            <a:xfrm>
              <a:off x="5962" y="6206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Frontend UI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60" name="Shape 54"/>
            <p:cNvSpPr/>
            <p:nvPr/>
          </p:nvSpPr>
          <p:spPr>
            <a:xfrm>
              <a:off x="8654" y="5558"/>
              <a:ext cx="2621" cy="1872"/>
            </a:xfrm>
            <a:prstGeom prst="rect">
              <a:avLst/>
            </a:prstGeom>
            <a:solidFill>
              <a:srgbClr val="FFF7ED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61" name="Shape 55"/>
            <p:cNvSpPr/>
            <p:nvPr/>
          </p:nvSpPr>
          <p:spPr>
            <a:xfrm>
              <a:off x="8654" y="5558"/>
              <a:ext cx="2621" cy="576"/>
            </a:xfrm>
            <a:prstGeom prst="rect">
              <a:avLst/>
            </a:prstGeom>
            <a:solidFill>
              <a:srgbClr val="C2410C"/>
            </a:solidFill>
            <a:ln w="12700">
              <a:solidFill>
                <a:srgbClr val="C2410C"/>
              </a:solidFill>
              <a:prstDash val="solid"/>
            </a:ln>
          </p:spPr>
        </p:sp>
        <p:sp>
          <p:nvSpPr>
            <p:cNvPr id="62" name="Text 56"/>
            <p:cNvSpPr/>
            <p:nvPr/>
          </p:nvSpPr>
          <p:spPr>
            <a:xfrm>
              <a:off x="8726" y="5558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Windows OS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63" name="Text 57"/>
            <p:cNvSpPr/>
            <p:nvPr/>
          </p:nvSpPr>
          <p:spPr>
            <a:xfrm>
              <a:off x="8726" y="6206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Development OS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65" name="Shape 58"/>
            <p:cNvSpPr/>
            <p:nvPr/>
          </p:nvSpPr>
          <p:spPr>
            <a:xfrm>
              <a:off x="11419" y="5558"/>
              <a:ext cx="2621" cy="1872"/>
            </a:xfrm>
            <a:prstGeom prst="rect">
              <a:avLst/>
            </a:prstGeom>
            <a:solidFill>
              <a:srgbClr val="F0F9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66" name="Shape 59"/>
            <p:cNvSpPr/>
            <p:nvPr/>
          </p:nvSpPr>
          <p:spPr>
            <a:xfrm>
              <a:off x="11419" y="5558"/>
              <a:ext cx="2621" cy="576"/>
            </a:xfrm>
            <a:prstGeom prst="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</p:sp>
        <p:sp>
          <p:nvSpPr>
            <p:cNvPr id="67" name="Text 60"/>
            <p:cNvSpPr/>
            <p:nvPr/>
          </p:nvSpPr>
          <p:spPr>
            <a:xfrm>
              <a:off x="11491" y="5558"/>
              <a:ext cx="2477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Matplotlib</a:t>
              </a:r>
              <a:endParaRPr lang="en-US" sz="12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68" name="Text 61"/>
            <p:cNvSpPr/>
            <p:nvPr/>
          </p:nvSpPr>
          <p:spPr>
            <a:xfrm>
              <a:off x="11491" y="6206"/>
              <a:ext cx="2477" cy="10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Phase 2 plots</a:t>
              </a:r>
              <a:endParaRPr lang="en-US" sz="1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98570" y="73025"/>
            <a:ext cx="179451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Conclusion 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686943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WHAT WE BUILT</a:t>
            </a:r>
            <a:endParaRPr 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3425825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320040" y="2633345"/>
                <a:ext cx="8595360" cy="1751330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171450" indent="-1714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Complete 4-phase ML system: raw data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Calibri" panose="020F0502020204030204" pitchFamily="34" charset="-122"/>
                        <a:cs typeface="Cambria Math" panose="02040503050406030204" charset="0"/>
                      </a:rPr>
                      <m:t>→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StandardScaler/LabelEncoder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Calibri" panose="020F0502020204030204" pitchFamily="34" charset="-122"/>
                        <a:cs typeface="Cambria Math" panose="02040503050406030204" charset="0"/>
                      </a:rPr>
                      <m:t>→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 Logistic Regression (96.5%)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Calibri" panose="020F0502020204030204" pitchFamily="34" charset="-122"/>
                        <a:cs typeface="Cambria Math" panose="02040503050406030204" charset="0"/>
                      </a:rPr>
                      <m:t>→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Flask dashboard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Calibri" panose="020F0502020204030204" pitchFamily="34" charset="-122"/>
                        <a:cs typeface="Cambria Math" panose="02040503050406030204" charset="0"/>
                      </a:rPr>
                      <m:t>→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</a:t>
                </a:r>
                <a:br>
                  <a:rPr lang="en-US" sz="12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10-dim recommendations</a:t>
                </a:r>
                <a:endPara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endParaRPr>
              </a:p>
              <a:p>
                <a:pPr marL="171450" indent="-1714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Logistic Regression model outperformed on the 2,000-student dataset</a:t>
                </a:r>
                <a:endParaRPr lang="en-US" sz="1200" dirty="0"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endParaRPr>
              </a:p>
              <a:p>
                <a:pPr marL="171450" indent="-1714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Real-time Flask dashboard with role-based access for teachers and students, MySQL 8.0 backend, graceful CSV fallback</a:t>
                </a:r>
                <a:endParaRPr lang="en-US" sz="1200" dirty="0"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endParaRPr>
              </a:p>
              <a:p>
                <a:pPr marL="171450" indent="-1714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Recommendations engine analyzing 10 academic dimensions per student with 4-tier risk classification using predict_proba()</a:t>
                </a:r>
                <a:endParaRPr lang="en-US" sz="1200" dirty="0"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  <a:sym typeface="+mn-ea"/>
                </a:endParaRPr>
              </a:p>
              <a:p>
                <a:pPr marL="171450" indent="-1714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charset="0"/>
                    <a:ea typeface="Calibri" panose="020F0502020204030204" pitchFamily="34" charset="-122"/>
                    <a:cs typeface="Times New Roman" panose="02020603050405020304" charset="0"/>
                    <a:sym typeface="+mn-ea"/>
                  </a:rPr>
                  <a:t> Early alert system triggered by 5 critical academic thresholds; CSV export; live search in teacher dashboard</a:t>
                </a:r>
                <a:endPara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endParaRPr>
              </a:p>
              <a:p>
                <a:pPr marL="171450" indent="-1714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endPara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endParaRPr>
              </a:p>
              <a:p>
                <a:pPr marL="171450" indent="-1714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endPara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endParaRPr>
              </a:p>
              <a:p>
                <a:pPr marL="171450" indent="-1714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endPara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endParaRPr>
              </a:p>
              <a:p>
                <a:pPr marL="171450" indent="-171450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endPara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endParaRPr>
              </a:p>
              <a:p>
                <a:pPr marL="0" indent="0">
                  <a:lnSpc>
                    <a:spcPct val="250000"/>
                  </a:lnSpc>
                  <a:buNone/>
                </a:pPr>
                <a:endParaRPr lang="en-US" sz="1200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2633345"/>
                <a:ext cx="8595360" cy="1751330"/>
              </a:xfrm>
              <a:prstGeom prst="rect">
                <a:avLst/>
              </a:prstGeom>
              <a:blipFill rotWithShape="1">
                <a:blip r:embed="rId1"/>
                <a:stretch>
                  <a:fillRect t="-93546" b="-936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8"/>
          <p:cNvSpPr/>
          <p:nvPr/>
        </p:nvSpPr>
        <p:spPr>
          <a:xfrm>
            <a:off x="4803775" y="3028188"/>
            <a:ext cx="1325880" cy="1389888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5209413" y="3113405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tx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80460" y="73025"/>
            <a:ext cx="203898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Future Work</a:t>
            </a:r>
            <a:endParaRPr lang="en-US" sz="24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" y="706120"/>
            <a:ext cx="3230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FUTURE ENHANCEMENTS</a:t>
            </a:r>
            <a:endParaRPr lang="en-US" sz="1400" b="1" kern="0" spc="200" dirty="0">
              <a:solidFill>
                <a:srgbClr val="2563E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1250823"/>
            <a:ext cx="1325880" cy="1389888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2338" y="134747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338" y="1323975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🏗   </a:t>
            </a:r>
            <a:endParaRPr lang="en-US" sz="1600" dirty="0">
              <a:solidFill>
                <a:srgbClr val="00000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" y="1854327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900" b="1" dirty="0">
                <a:solidFill>
                  <a:srgbClr val="1B3A6B"/>
                </a:solidFill>
                <a:latin typeface="Times New Roman" panose="02020603050405020304" charset="0"/>
                <a:cs typeface="Times New Roman" panose="02020603050405020304" charset="0"/>
              </a:rPr>
              <a:t> Real-Time Integration</a:t>
            </a:r>
            <a:endParaRPr lang="en-US" altLang="en-US" sz="900" b="1" dirty="0">
              <a:solidFill>
                <a:srgbClr val="1B3A6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040" y="2110359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9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Connect directly to University SIS APIs for live data updates</a:t>
            </a:r>
            <a:endParaRPr lang="en-US" altLang="en-US" sz="9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176399" y="1250188"/>
            <a:ext cx="1325880" cy="1389888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06167" y="13233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80767" y="13233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📧</a:t>
            </a:r>
            <a:endParaRPr lang="en-US" sz="1600" dirty="0">
              <a:solidFill>
                <a:srgbClr val="00000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222119" y="185369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Email Alerts</a:t>
            </a:r>
            <a:endParaRPr lang="en-US" sz="9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222119" y="2109724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Auto-notify teachers</a:t>
            </a:r>
            <a:endParaRPr lang="en-US" sz="9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on critical risk</a:t>
            </a:r>
            <a:endParaRPr lang="en-US" sz="900" dirty="0">
              <a:solidFill>
                <a:schemeClr val="tx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68953" y="1250188"/>
            <a:ext cx="1325880" cy="1389888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98721" y="13233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73321" y="13233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📈</a:t>
            </a:r>
            <a:endParaRPr lang="en-US" sz="1600" dirty="0">
              <a:solidFill>
                <a:srgbClr val="00000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114673" y="185369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Time-Series</a:t>
            </a:r>
            <a:endParaRPr lang="en-US" sz="9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114673" y="2109724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Track trends over</a:t>
            </a:r>
            <a:endParaRPr lang="en-US" sz="9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multiple semesters</a:t>
            </a:r>
            <a:endParaRPr lang="en-US" sz="900" dirty="0">
              <a:solidFill>
                <a:schemeClr val="tx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62142" y="1250188"/>
            <a:ext cx="1325880" cy="1389888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17310" y="1323975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910" y="13233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ea typeface="Arial" panose="020B0604020202020204" pitchFamily="34" charset="-122"/>
                <a:cs typeface="Arial" panose="020B0604020202020204" pitchFamily="34" charset="-120"/>
              </a:rPr>
              <a:t> ☁</a:t>
            </a:r>
            <a:endParaRPr lang="en-US" sz="1600" dirty="0">
              <a:solidFill>
                <a:srgbClr val="000000"/>
              </a:solidFill>
              <a:latin typeface="Times New Roman" panose="0202060305040502030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07862" y="185369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Cloud Deploy</a:t>
            </a:r>
            <a:endParaRPr lang="en-US" sz="9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07862" y="2109724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Heroku / AWS</a:t>
            </a:r>
            <a:endParaRPr lang="en-US" sz="9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institutional access</a:t>
            </a:r>
            <a:endParaRPr lang="en-US" sz="900" dirty="0">
              <a:solidFill>
                <a:schemeClr val="tx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778496" y="1250188"/>
            <a:ext cx="1325880" cy="1389888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08264" y="13233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63814" y="1323975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🧠</a:t>
            </a:r>
            <a:endParaRPr lang="en-US" sz="1600" dirty="0">
              <a:solidFill>
                <a:srgbClr val="00000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824216" y="185369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Deep Learning</a:t>
            </a:r>
            <a:endParaRPr lang="en-US" sz="9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824216" y="2109724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LSTM for sequential</a:t>
            </a:r>
            <a:endParaRPr lang="en-US" sz="9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performance prediction</a:t>
            </a:r>
            <a:endParaRPr lang="en-US" sz="900" dirty="0">
              <a:solidFill>
                <a:schemeClr val="tx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788920" y="3028188"/>
            <a:ext cx="1325880" cy="1389888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23133" y="31013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86938" y="31013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📱</a:t>
            </a:r>
            <a:endParaRPr lang="en-US" sz="1600" dirty="0">
              <a:solidFill>
                <a:srgbClr val="00000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834640" y="363169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Mobile App</a:t>
            </a:r>
            <a:endParaRPr lang="en-US" sz="9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834640" y="3887724"/>
            <a:ext cx="1234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Student self-reporting</a:t>
            </a:r>
            <a:endParaRPr lang="en-US" sz="9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via mobile UI</a:t>
            </a:r>
            <a:endParaRPr lang="en-US" sz="900" dirty="0">
              <a:solidFill>
                <a:schemeClr val="tx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1470" y="2956941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>
              <a:buFont typeface="Arial" panose="020B0604020202020204" pitchFamily="34" charset="0"/>
              <a:buNone/>
            </a:pPr>
            <a:endParaRPr lang="en-US" altLang="en-US" sz="1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40"/>
          <p:cNvSpPr/>
          <p:nvPr/>
        </p:nvSpPr>
        <p:spPr>
          <a:xfrm>
            <a:off x="5171440" y="3237865"/>
            <a:ext cx="457200" cy="391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🔒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zh-CN" altLang="en-US" sz="1600" dirty="0">
              <a:solidFill>
                <a:srgbClr val="000000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41"/>
          <p:cNvSpPr/>
          <p:nvPr/>
        </p:nvSpPr>
        <p:spPr>
          <a:xfrm>
            <a:off x="4849495" y="363169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900" b="1" dirty="0">
                <a:solidFill>
                  <a:srgbClr val="1B3A6B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Production Security</a:t>
            </a:r>
            <a:endParaRPr lang="en-US" altLang="en-US" sz="900" b="1" dirty="0">
              <a:solidFill>
                <a:srgbClr val="1B3A6B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48" name="Text 42"/>
          <p:cNvSpPr/>
          <p:nvPr/>
        </p:nvSpPr>
        <p:spPr>
          <a:xfrm>
            <a:off x="4743450" y="3913505"/>
            <a:ext cx="1464310" cy="4756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900" dirty="0">
                <a:solidFill>
                  <a:schemeClr val="tx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 Bcrypt, CSRF, HTTPS, &amp; Rate Limiting for institutional scale.</a:t>
            </a:r>
            <a:endParaRPr lang="en-US" altLang="en-US" sz="900" dirty="0">
              <a:solidFill>
                <a:schemeClr val="tx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76425"/>
            <a:ext cx="4572000" cy="4572000"/>
          </a:xfrm>
          <a:prstGeom prst="ellipse">
            <a:avLst/>
          </a:prstGeom>
          <a:solidFill>
            <a:srgbClr val="B0DAFD">
              <a:alpha val="91000"/>
            </a:srgbClr>
          </a:solidFill>
          <a:ln w="12700">
            <a:noFill/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72770" y="3181350"/>
            <a:ext cx="2743200" cy="2743200"/>
          </a:xfrm>
          <a:prstGeom prst="ellipse">
            <a:avLst/>
          </a:prstGeom>
          <a:solidFill>
            <a:srgbClr val="B0DAFD">
              <a:alpha val="91000"/>
            </a:srgbClr>
          </a:solidFill>
          <a:ln w="12700">
            <a:noFill/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1000" y="118872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Thank You</a:t>
            </a:r>
            <a:endParaRPr lang="en-US" sz="6000" b="1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0" y="2331720"/>
            <a:ext cx="4572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CS619 Final Project  .  Virtual University of Pakistan  .  Fall 2025</a:t>
            </a:r>
            <a:endParaRPr lang="en-US" sz="1400" dirty="0">
              <a:solidFill>
                <a:srgbClr val="94A3B8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223770" y="2727960"/>
            <a:ext cx="4832350" cy="8267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sz="1600" b="1" dirty="0">
                <a:solidFill>
                  <a:schemeClr val="accent4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  <a:sym typeface="+mn-ea"/>
              </a:rPr>
              <a:t>    Syeda Farkhanda Batool Naqvi . Saad Shakir</a:t>
            </a:r>
            <a:r>
              <a:rPr lang="en-US" sz="1600" b="1" dirty="0">
                <a:solidFill>
                  <a:schemeClr val="accent4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  <a:sym typeface="+mn-ea"/>
              </a:rPr>
              <a:t>  </a:t>
            </a:r>
            <a:br>
              <a:rPr lang="en-US" sz="1600" b="1" dirty="0">
                <a:solidFill>
                  <a:schemeClr val="accent4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  <a:sym typeface="+mn-ea"/>
              </a:rPr>
            </a:br>
            <a:r>
              <a:rPr lang="en-US" sz="1600" b="1" dirty="0">
                <a:solidFill>
                  <a:schemeClr val="accent4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  <a:sym typeface="+mn-ea"/>
              </a:rPr>
              <a:t>                  </a:t>
            </a:r>
            <a:r>
              <a:rPr lang="en-US" altLang="en-US" sz="1600" b="1" dirty="0">
                <a:solidFill>
                  <a:schemeClr val="bg1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  <a:sym typeface="+mn-ea"/>
              </a:rPr>
              <a:t>BC220424824 . BC220404989</a:t>
            </a:r>
            <a:endParaRPr lang="en-US" altLang="en-US" sz="1600" b="1" dirty="0">
              <a:solidFill>
                <a:schemeClr val="bg1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04*174"/>
  <p:tag name="TABLE_ENDDRAG_RECT" val="97*98*504*17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13323</Words>
  <Application>WPS Presentation</Application>
  <PresentationFormat>On-screen Show (16:9)</PresentationFormat>
  <Paragraphs>842</Paragraphs>
  <Slides>25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SimSun</vt:lpstr>
      <vt:lpstr>Wingdings</vt:lpstr>
      <vt:lpstr>Times New Roman</vt:lpstr>
      <vt:lpstr>Arial</vt:lpstr>
      <vt:lpstr>Calibri</vt:lpstr>
      <vt:lpstr>Calibri</vt:lpstr>
      <vt:lpstr>Calibri</vt:lpstr>
      <vt:lpstr>Cambria Math</vt:lpstr>
      <vt:lpstr>MS Mincho</vt:lpstr>
      <vt:lpstr>Segoe Print</vt:lpstr>
      <vt:lpstr>Microsoft YaHei</vt:lpstr>
      <vt:lpstr>Arial Unicode MS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Predictor — Phase 4</dc:title>
  <dc:creator>CS619 Student</dc:creator>
  <dc:subject>PptxGenJS Presentation</dc:subject>
  <cp:lastModifiedBy>SFNaqvi</cp:lastModifiedBy>
  <cp:revision>123</cp:revision>
  <dcterms:created xsi:type="dcterms:W3CDTF">2026-04-11T15:30:00Z</dcterms:created>
  <dcterms:modified xsi:type="dcterms:W3CDTF">2026-05-10T07:20:10Z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D9AC992C90074948B3D26C31DAF505DF_13</vt:lpwstr>
  </property>
</Properties>
</file>